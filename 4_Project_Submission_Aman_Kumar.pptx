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4"/>
  </p:notesMasterIdLst>
  <p:sldIdLst>
    <p:sldId id="283" r:id="rId2"/>
    <p:sldId id="257" r:id="rId3"/>
    <p:sldId id="282" r:id="rId4"/>
    <p:sldId id="284" r:id="rId5"/>
    <p:sldId id="285" r:id="rId6"/>
    <p:sldId id="281" r:id="rId7"/>
    <p:sldId id="279" r:id="rId8"/>
    <p:sldId id="262" r:id="rId9"/>
    <p:sldId id="286" r:id="rId10"/>
    <p:sldId id="277" r:id="rId11"/>
    <p:sldId id="280" r:id="rId12"/>
    <p:sldId id="276" r:id="rId1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86"/>
  </p:normalViewPr>
  <p:slideViewPr>
    <p:cSldViewPr snapToGrid="0">
      <p:cViewPr>
        <p:scale>
          <a:sx n="66" d="100"/>
          <a:sy n="66" d="100"/>
        </p:scale>
        <p:origin x="1301" y="37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0A8E369-C804-D8D2-383B-03E8A5478F53}"/>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168FC73D-F867-8E13-0025-1B40818921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449581B4-9B47-7782-B749-078618A6E5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51513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CoderforLife-AK/College_Admission_RAG_Bot.git"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dirty="0"/>
              <a:t>IBM University Engagement Project Submission</a:t>
            </a:r>
            <a:br>
              <a:rPr lang="en-US" b="1" dirty="0"/>
            </a:br>
            <a:endParaRPr lang="en-IN" dirty="0"/>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dirty="0"/>
              <a:t>“Exploring the Power of Agentic AI with IBM Granite and </a:t>
            </a:r>
            <a:r>
              <a:rPr lang="en-US" b="1" i="1" dirty="0" err="1"/>
              <a:t>LangFlow</a:t>
            </a:r>
            <a:r>
              <a:rPr lang="en-US" b="1" i="1" dirty="0"/>
              <a:t>”</a:t>
            </a:r>
            <a:endParaRPr lang="en-IN" dirty="0"/>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dirty="0">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215945340"/>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dirty="0"/>
                        <a:t>Student Name</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dirty="0"/>
                        <a:t>Recent Passport Photo</a:t>
                      </a:r>
                      <a:endParaRPr sz="1800"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rgbClr val="000000"/>
                          </a:solidFill>
                          <a:latin typeface="Arial"/>
                          <a:ea typeface="Calibri"/>
                          <a:cs typeface="Arial"/>
                          <a:sym typeface="Calibri"/>
                        </a:rPr>
                        <a:t>Email ID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Mobile number</a:t>
                      </a:r>
                      <a:endParaRPr sz="1800" b="0" i="0" u="none" strike="noStrike" cap="none" dirty="0">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[WhatsApp]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US" sz="2400" dirty="0"/>
                        <a:t>Aman </a:t>
                      </a:r>
                      <a:r>
                        <a:rPr lang="en-US" sz="2400" dirty="0" err="1"/>
                        <a:t>kumar</a:t>
                      </a:r>
                      <a:endParaRPr sz="24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sz="1400" dirty="0"/>
                        <a:t>nothingusual04@gmail.com</a:t>
                      </a:r>
                      <a:endParaRPr sz="14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sz="2400" dirty="0"/>
                        <a:t>9135132774</a:t>
                      </a:r>
                      <a:endParaRPr sz="24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pic>
        <p:nvPicPr>
          <p:cNvPr id="98" name="Google Shape;98;p2"/>
          <p:cNvPicPr preferRelativeResize="0"/>
          <p:nvPr/>
        </p:nvPicPr>
        <p:blipFill>
          <a:blip r:embed="rId3"/>
          <a:srcRect/>
          <a:stretch/>
        </p:blipFill>
        <p:spPr>
          <a:xfrm>
            <a:off x="4085562" y="3738417"/>
            <a:ext cx="697424" cy="801811"/>
          </a:xfrm>
          <a:prstGeom prst="rect">
            <a:avLst/>
          </a:prstGeom>
          <a:noFill/>
          <a:ln>
            <a:noFill/>
          </a:ln>
        </p:spPr>
      </p:pic>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b="1" dirty="0">
                <a:highlight>
                  <a:srgbClr val="FFFF00"/>
                </a:highlight>
              </a:rPr>
              <a:t>Education</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US" sz="2400" dirty="0">
                <a:highlight>
                  <a:srgbClr val="FFFF00"/>
                </a:highlight>
              </a:rPr>
              <a:t>College Admission Agent ( RAG Based ) </a:t>
            </a:r>
            <a:endParaRPr lang="en-IN" sz="2400" b="1" dirty="0">
              <a:highlight>
                <a:srgbClr val="FFFF00"/>
              </a:high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3323987"/>
          </a:xfrm>
          <a:prstGeom prst="rect">
            <a:avLst/>
          </a:prstGeom>
          <a:noFill/>
        </p:spPr>
        <p:txBody>
          <a:bodyPr wrap="square" rtlCol="0">
            <a:spAutoFit/>
          </a:bodyPr>
          <a:lstStyle/>
          <a:p>
            <a:pPr fontAlgn="base"/>
            <a:r>
              <a:rPr lang="en-US" b="1" dirty="0"/>
              <a:t>Problem Statement : </a:t>
            </a:r>
            <a:r>
              <a:rPr lang="en-US" dirty="0"/>
              <a:t>College Admission Agent </a:t>
            </a:r>
            <a:endParaRPr lang="en-US" b="1" dirty="0"/>
          </a:p>
          <a:p>
            <a:pPr fontAlgn="base"/>
            <a:r>
              <a:rPr lang="en-US" b="1" dirty="0"/>
              <a:t>The Challenge</a:t>
            </a:r>
            <a:r>
              <a:rPr lang="en-US" dirty="0"/>
              <a:t> </a:t>
            </a:r>
          </a:p>
          <a:p>
            <a:pPr fontAlgn="base"/>
            <a:r>
              <a:rPr lang="en-US" dirty="0"/>
              <a:t>During peak intake cycles, administrative support networks face a massive influx of repetitive operational inquiries from students and parents, creating severe friction. Critical data like eligibility percentages and Tuition Fee Waiver (TFW) </a:t>
            </a:r>
            <a:r>
              <a:rPr lang="en-US" dirty="0" err="1"/>
              <a:t>rulesare</a:t>
            </a:r>
            <a:r>
              <a:rPr lang="en-US" dirty="0"/>
              <a:t> buried deep inside lengthy, dense PDF policy files that applicants struggle to navigate. Standard AI chatbots fail to solve this because they rely purely on raw foundational knowledge; when asked specific local questions, they hallucinate false fees, wrong dates. This leaves institutional helpdesks completely overwhelmed with redundant manual queries, creating massive processing queues and critical support delays during strict verification deadlines.</a:t>
            </a:r>
          </a:p>
          <a:p>
            <a:pPr fontAlgn="base"/>
            <a:r>
              <a:rPr lang="en-US" b="1" dirty="0"/>
              <a:t>The Objective</a:t>
            </a:r>
            <a:r>
              <a:rPr lang="en-US" dirty="0"/>
              <a:t> </a:t>
            </a:r>
          </a:p>
          <a:p>
            <a:pPr fontAlgn="base"/>
            <a:r>
              <a:rPr lang="en-US" dirty="0"/>
              <a:t>The primary objective of this project is to deploy an automated, reliable, and intelligent helpdesk solution that streamlines the chaotic government college admissions process for students and administrators. Core Project Goals:-</a:t>
            </a:r>
          </a:p>
          <a:p>
            <a:pPr fontAlgn="base"/>
            <a:endParaRPr lang="en-US" dirty="0"/>
          </a:p>
          <a:p>
            <a:pPr fontAlgn="base"/>
            <a:r>
              <a:rPr lang="en-US" dirty="0"/>
              <a:t> </a:t>
            </a:r>
          </a:p>
          <a:p>
            <a:pPr fontAlgn="base"/>
            <a:endParaRPr lang="en-US" dirty="0"/>
          </a:p>
          <a:p>
            <a:endParaRPr lang="en-IN" dirty="0"/>
          </a:p>
        </p:txBody>
      </p:sp>
      <p:sp>
        <p:nvSpPr>
          <p:cNvPr id="8" name="Rectangle 5">
            <a:extLst>
              <a:ext uri="{FF2B5EF4-FFF2-40B4-BE49-F238E27FC236}">
                <a16:creationId xmlns:a16="http://schemas.microsoft.com/office/drawing/2014/main" id="{524195C6-9544-45CB-A995-8ACD55B09718}"/>
              </a:ext>
            </a:extLst>
          </p:cNvPr>
          <p:cNvSpPr>
            <a:spLocks noChangeArrowheads="1"/>
          </p:cNvSpPr>
          <p:nvPr/>
        </p:nvSpPr>
        <p:spPr bwMode="auto">
          <a:xfrm>
            <a:off x="576072" y="3584190"/>
            <a:ext cx="12526470"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Automate High-Volume Inquiries:</a:t>
            </a:r>
            <a:r>
              <a:rPr kumimoji="0" lang="en-US" altLang="en-US" b="0" i="0" u="none" strike="noStrike" cap="none" normalizeH="0" baseline="0" dirty="0">
                <a:ln>
                  <a:noFill/>
                </a:ln>
                <a:solidFill>
                  <a:schemeClr val="tx1"/>
                </a:solidFill>
                <a:effectLst/>
                <a:latin typeface="Arial" panose="020B0604020202020204" pitchFamily="34" charset="0"/>
              </a:rPr>
              <a:t> Provide instantaneous, round-the-clock support to students and parents regarding complex eligibility rules,</a:t>
            </a:r>
          </a:p>
          <a:p>
            <a:pPr marL="0" marR="0" lvl="0" indent="0" algn="l" defTabSz="914400" rtl="0" eaLnBrk="0" fontAlgn="base" latinLnBrk="0" hangingPunct="0">
              <a:lnSpc>
                <a:spcPct val="100000"/>
              </a:lnSpc>
              <a:spcBef>
                <a:spcPct val="0"/>
              </a:spcBef>
              <a:spcAft>
                <a:spcPct val="0"/>
              </a:spcAft>
              <a:buClrTx/>
              <a:buSzTx/>
              <a:tabLst/>
            </a:pPr>
            <a:r>
              <a:rPr kumimoji="0" lang="en-US" altLang="en-US" b="0" i="0" u="none" strike="noStrike" cap="none" normalizeH="0" baseline="0" dirty="0">
                <a:ln>
                  <a:noFill/>
                </a:ln>
                <a:solidFill>
                  <a:schemeClr val="tx1"/>
                </a:solidFill>
                <a:effectLst/>
                <a:latin typeface="Arial" panose="020B0604020202020204" pitchFamily="34" charset="0"/>
              </a:rPr>
              <a:t> branch cutoffs, and uniform fee structures.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Eliminate AI Hallucinations:</a:t>
            </a:r>
            <a:r>
              <a:rPr kumimoji="0" lang="en-US" altLang="en-US" b="0" i="0" u="none" strike="noStrike" cap="none" normalizeH="0" baseline="0" dirty="0">
                <a:ln>
                  <a:noFill/>
                </a:ln>
                <a:solidFill>
                  <a:schemeClr val="tx1"/>
                </a:solidFill>
                <a:effectLst/>
                <a:latin typeface="Arial" panose="020B0604020202020204" pitchFamily="34" charset="0"/>
              </a:rPr>
              <a:t> Use a rigid Retrieval-Augmented Generation (RAG) architecture to ensure the chatbot only provides answers</a:t>
            </a:r>
          </a:p>
          <a:p>
            <a:pPr marL="0" marR="0" lvl="0" indent="0" algn="l" defTabSz="914400" rtl="0" eaLnBrk="0" fontAlgn="base" latinLnBrk="0" hangingPunct="0">
              <a:lnSpc>
                <a:spcPct val="100000"/>
              </a:lnSpc>
              <a:spcBef>
                <a:spcPct val="0"/>
              </a:spcBef>
              <a:spcAft>
                <a:spcPct val="0"/>
              </a:spcAft>
              <a:buClrTx/>
              <a:buSzTx/>
              <a:tabLst/>
            </a:pPr>
            <a:r>
              <a:rPr kumimoji="0" lang="en-US" altLang="en-US" b="0" i="0" u="none" strike="noStrike" cap="none" normalizeH="0" baseline="0" dirty="0">
                <a:ln>
                  <a:noFill/>
                </a:ln>
                <a:solidFill>
                  <a:schemeClr val="tx1"/>
                </a:solidFill>
                <a:effectLst/>
                <a:latin typeface="Arial" panose="020B0604020202020204" pitchFamily="34" charset="0"/>
              </a:rPr>
              <a:t> directly verified by the uploaded institutional documentation.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Streamline Document Compliance:</a:t>
            </a:r>
            <a:r>
              <a:rPr kumimoji="0" lang="en-US" altLang="en-US" b="0" i="0" u="none" strike="noStrike" cap="none" normalizeH="0" baseline="0" dirty="0">
                <a:ln>
                  <a:noFill/>
                </a:ln>
                <a:solidFill>
                  <a:schemeClr val="tx1"/>
                </a:solidFill>
                <a:effectLst/>
                <a:latin typeface="Arial" panose="020B0604020202020204" pitchFamily="34" charset="0"/>
              </a:rPr>
              <a:t> Simplify the verification cycle by giving clear, step-by-step guidance on the 12 mandatory admission</a:t>
            </a:r>
          </a:p>
          <a:p>
            <a:pPr marL="0" marR="0" lvl="0" indent="0" algn="l" defTabSz="914400" rtl="0" eaLnBrk="0" fontAlgn="base" latinLnBrk="0" hangingPunct="0">
              <a:lnSpc>
                <a:spcPct val="100000"/>
              </a:lnSpc>
              <a:spcBef>
                <a:spcPct val="0"/>
              </a:spcBef>
              <a:spcAft>
                <a:spcPct val="0"/>
              </a:spcAft>
              <a:buClrTx/>
              <a:buSzTx/>
              <a:tabLst/>
            </a:pPr>
            <a:r>
              <a:rPr kumimoji="0" lang="en-US" altLang="en-US" b="0" i="0" u="none" strike="noStrike" cap="none" normalizeH="0" baseline="0" dirty="0">
                <a:ln>
                  <a:noFill/>
                </a:ln>
                <a:solidFill>
                  <a:schemeClr val="tx1"/>
                </a:solidFill>
                <a:effectLst/>
                <a:latin typeface="Arial" panose="020B0604020202020204" pitchFamily="34" charset="0"/>
              </a:rPr>
              <a:t> documents, residential certificates, and gap-year affidavits.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Maximize Portability and Security:</a:t>
            </a:r>
            <a:r>
              <a:rPr kumimoji="0" lang="en-US" altLang="en-US" b="0" i="0" u="none" strike="noStrike" cap="none" normalizeH="0" baseline="0" dirty="0">
                <a:ln>
                  <a:noFill/>
                </a:ln>
                <a:solidFill>
                  <a:schemeClr val="tx1"/>
                </a:solidFill>
                <a:effectLst/>
                <a:latin typeface="Arial" panose="020B0604020202020204" pitchFamily="34" charset="0"/>
              </a:rPr>
              <a:t> Deliver an infrastructure-as-code blueprint that completely scrubs developer billing credentials, making the</a:t>
            </a:r>
          </a:p>
          <a:p>
            <a:pPr marL="0" marR="0" lvl="0" indent="0" algn="l" defTabSz="914400" rtl="0" eaLnBrk="0" fontAlgn="base" latinLnBrk="0" hangingPunct="0">
              <a:lnSpc>
                <a:spcPct val="100000"/>
              </a:lnSpc>
              <a:spcBef>
                <a:spcPct val="0"/>
              </a:spcBef>
              <a:spcAft>
                <a:spcPct val="0"/>
              </a:spcAft>
              <a:buClrTx/>
              <a:buSzTx/>
              <a:tabLst/>
            </a:pPr>
            <a:r>
              <a:rPr kumimoji="0" lang="en-US" altLang="en-US" b="0" i="0" u="none" strike="noStrike" cap="none" normalizeH="0" baseline="0" dirty="0">
                <a:ln>
                  <a:noFill/>
                </a:ln>
                <a:solidFill>
                  <a:schemeClr val="tx1"/>
                </a:solidFill>
                <a:effectLst/>
                <a:latin typeface="Arial" panose="020B0604020202020204" pitchFamily="34" charset="0"/>
              </a:rPr>
              <a:t> pipeline safe to share and instantly deployable for any evaluator.</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Leverage the IBM Ecosystem:</a:t>
            </a:r>
            <a:r>
              <a:rPr kumimoji="0" lang="en-US" altLang="en-US" b="0" i="0" u="none" strike="noStrike" cap="none" normalizeH="0" baseline="0" dirty="0">
                <a:ln>
                  <a:noFill/>
                </a:ln>
                <a:solidFill>
                  <a:schemeClr val="tx1"/>
                </a:solidFill>
                <a:effectLst/>
                <a:latin typeface="Arial" panose="020B0604020202020204" pitchFamily="34" charset="0"/>
              </a:rPr>
              <a:t> Optimize data retrieval and inference execution by utilizing high-performance IBM Slate embeddings and IBM</a:t>
            </a:r>
          </a:p>
          <a:p>
            <a:pPr marL="0" marR="0" lvl="0" indent="0" algn="l" defTabSz="914400" rtl="0" eaLnBrk="0" fontAlgn="base" latinLnBrk="0" hangingPunct="0">
              <a:lnSpc>
                <a:spcPct val="100000"/>
              </a:lnSpc>
              <a:spcBef>
                <a:spcPct val="0"/>
              </a:spcBef>
              <a:spcAft>
                <a:spcPct val="0"/>
              </a:spcAft>
              <a:buClrTx/>
              <a:buSzTx/>
              <a:tabLst/>
            </a:pPr>
            <a:r>
              <a:rPr kumimoji="0" lang="en-US" altLang="en-US" b="0" i="0" u="none" strike="noStrike" cap="none" normalizeH="0" baseline="0" dirty="0">
                <a:ln>
                  <a:noFill/>
                </a:ln>
                <a:solidFill>
                  <a:schemeClr val="tx1"/>
                </a:solidFill>
                <a:effectLst/>
                <a:latin typeface="Arial" panose="020B0604020202020204" pitchFamily="34" charset="0"/>
              </a:rPr>
              <a:t> watsonx.ai language models via </a:t>
            </a:r>
            <a:r>
              <a:rPr kumimoji="0" lang="en-US" altLang="en-US" b="0" i="0" u="none" strike="noStrike" cap="none" normalizeH="0" baseline="0" dirty="0" err="1">
                <a:ln>
                  <a:noFill/>
                </a:ln>
                <a:solidFill>
                  <a:schemeClr val="tx1"/>
                </a:solidFill>
                <a:effectLst/>
                <a:latin typeface="Arial" panose="020B0604020202020204" pitchFamily="34" charset="0"/>
              </a:rPr>
              <a:t>Langflow</a:t>
            </a:r>
            <a:r>
              <a:rPr kumimoji="0" lang="en-US" altLang="en-US" b="0" i="0" u="none" strike="noStrike" cap="none" normalizeH="0" baseline="0" dirty="0">
                <a:ln>
                  <a:noFill/>
                </a:ln>
                <a:solidFill>
                  <a:schemeClr val="tx1"/>
                </a:solidFill>
                <a:effectLst/>
                <a:latin typeface="Arial" panose="020B0604020202020204" pitchFamily="34" charset="0"/>
              </a:rPr>
              <a:t>.</a:t>
            </a:r>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72775"/>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77E81F-021A-57FB-C709-7E707564910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7CFCB91-EF22-EB8C-5B0D-4D46021F0245}"/>
              </a:ext>
            </a:extLst>
          </p:cNvPr>
          <p:cNvSpPr txBox="1"/>
          <p:nvPr/>
        </p:nvSpPr>
        <p:spPr>
          <a:xfrm>
            <a:off x="667512" y="1165753"/>
            <a:ext cx="10607040" cy="2031325"/>
          </a:xfrm>
          <a:prstGeom prst="rect">
            <a:avLst/>
          </a:prstGeom>
          <a:noFill/>
        </p:spPr>
        <p:txBody>
          <a:bodyPr wrap="square" rtlCol="0">
            <a:spAutoFit/>
          </a:bodyPr>
          <a:lstStyle/>
          <a:p>
            <a:pPr fontAlgn="base"/>
            <a:endParaRPr lang="en-US" b="1" dirty="0"/>
          </a:p>
          <a:p>
            <a:pPr fontAlgn="base"/>
            <a:r>
              <a:rPr lang="en-IN" b="1" dirty="0"/>
              <a:t>Tech Stack </a:t>
            </a:r>
            <a:r>
              <a:rPr lang="en-IN" dirty="0"/>
              <a:t> </a:t>
            </a:r>
          </a:p>
          <a:p>
            <a:pPr fontAlgn="base"/>
            <a:endParaRPr lang="en-IN" dirty="0"/>
          </a:p>
          <a:p>
            <a:pPr fontAlgn="base"/>
            <a:r>
              <a:rPr lang="en-IN" dirty="0"/>
              <a:t>I used </a:t>
            </a:r>
            <a:r>
              <a:rPr lang="en-IN" dirty="0" err="1">
                <a:highlight>
                  <a:srgbClr val="FFFF00"/>
                </a:highlight>
              </a:rPr>
              <a:t>LangFlow</a:t>
            </a:r>
            <a:r>
              <a:rPr lang="en-IN" dirty="0">
                <a:highlight>
                  <a:srgbClr val="FFFF00"/>
                </a:highlight>
              </a:rPr>
              <a:t> + IBM watsonx.ai + Granite Models </a:t>
            </a:r>
          </a:p>
          <a:p>
            <a:pPr fontAlgn="base"/>
            <a:endParaRPr lang="en-IN" dirty="0"/>
          </a:p>
          <a:p>
            <a:pPr marL="285750" indent="-285750" fontAlgn="base">
              <a:buFont typeface="Arial" panose="020B0604020202020204" pitchFamily="34" charset="0"/>
              <a:buChar char="•"/>
            </a:pPr>
            <a:endParaRPr lang="en-IN" dirty="0"/>
          </a:p>
          <a:p>
            <a:pPr fontAlgn="base"/>
            <a:endParaRPr lang="en-IN" dirty="0"/>
          </a:p>
          <a:p>
            <a:pPr fontAlgn="base"/>
            <a:endParaRPr lang="en-US" dirty="0"/>
          </a:p>
          <a:p>
            <a:endParaRPr lang="en-IN" dirty="0"/>
          </a:p>
        </p:txBody>
      </p:sp>
      <p:sp>
        <p:nvSpPr>
          <p:cNvPr id="4" name="Rectangle 1">
            <a:extLst>
              <a:ext uri="{FF2B5EF4-FFF2-40B4-BE49-F238E27FC236}">
                <a16:creationId xmlns:a16="http://schemas.microsoft.com/office/drawing/2014/main" id="{9AC2566E-F5ED-DA30-F6A7-6EC453D6DA80}"/>
              </a:ext>
            </a:extLst>
          </p:cNvPr>
          <p:cNvSpPr>
            <a:spLocks noChangeArrowheads="1"/>
          </p:cNvSpPr>
          <p:nvPr/>
        </p:nvSpPr>
        <p:spPr bwMode="auto">
          <a:xfrm>
            <a:off x="576072" y="2181415"/>
            <a:ext cx="10043134" cy="42319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err="1">
                <a:ln>
                  <a:noFill/>
                </a:ln>
                <a:solidFill>
                  <a:schemeClr val="tx1"/>
                </a:solidFill>
                <a:effectLst/>
                <a:latin typeface="Google Sans Text"/>
              </a:rPr>
              <a:t>Langflow</a:t>
            </a:r>
            <a:r>
              <a:rPr kumimoji="0" lang="en-US" altLang="en-US" sz="1600" b="1" i="0" u="none" strike="noStrike" cap="none" normalizeH="0" baseline="0" dirty="0">
                <a:ln>
                  <a:noFill/>
                </a:ln>
                <a:solidFill>
                  <a:schemeClr val="tx1"/>
                </a:solidFill>
                <a:effectLst/>
                <a:latin typeface="Google Sans Text"/>
              </a:rPr>
              <a:t>:</a:t>
            </a:r>
            <a:r>
              <a:rPr kumimoji="0" lang="en-US" altLang="en-US" sz="1600" b="0" i="0" u="none" strike="noStrike" cap="none" normalizeH="0" baseline="0" dirty="0">
                <a:ln>
                  <a:noFill/>
                </a:ln>
                <a:solidFill>
                  <a:schemeClr val="tx1"/>
                </a:solidFill>
                <a:effectLst/>
                <a:latin typeface="Google Sans Text"/>
              </a:rPr>
              <a:t> Used as the low-code, visual development orchestration environment to build, manage, and seamlessly</a:t>
            </a:r>
          </a:p>
          <a:p>
            <a:pPr marL="0" marR="0" lvl="0" indent="0" algn="l" defTabSz="914400" rtl="0" eaLnBrk="0" fontAlgn="base" latinLnBrk="0" hangingPunct="0">
              <a:lnSpc>
                <a:spcPct val="100000"/>
              </a:lnSpc>
              <a:spcBef>
                <a:spcPct val="0"/>
              </a:spcBef>
              <a:spcAft>
                <a:spcPct val="0"/>
              </a:spcAft>
              <a:buClrTx/>
              <a:buSzTx/>
              <a:tabLst/>
            </a:pPr>
            <a:r>
              <a:rPr kumimoji="0" lang="en-US" altLang="en-US" sz="1600" b="0" i="0" u="none" strike="noStrike" cap="none" normalizeH="0" baseline="0" dirty="0">
                <a:ln>
                  <a:noFill/>
                </a:ln>
                <a:solidFill>
                  <a:schemeClr val="tx1"/>
                </a:solidFill>
                <a:effectLst/>
                <a:latin typeface="Google Sans Text"/>
              </a:rPr>
              <a:t> connect the individual nodes of the RAG pipeline.</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600" b="0" i="0" u="none" strike="noStrike" cap="none" normalizeH="0" baseline="0" dirty="0">
              <a:ln>
                <a:noFill/>
              </a:ln>
              <a:solidFill>
                <a:schemeClr val="tx1"/>
              </a:solidFill>
              <a:effectLst/>
              <a:latin typeface="Google Sans Tex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IBM watsonx.ai (LLM Engine):</a:t>
            </a:r>
            <a:r>
              <a:rPr kumimoji="0" lang="en-US" altLang="en-US" sz="1600" b="0" i="0" u="none" strike="noStrike" cap="none" normalizeH="0" baseline="0" dirty="0">
                <a:ln>
                  <a:noFill/>
                </a:ln>
                <a:solidFill>
                  <a:schemeClr val="tx1"/>
                </a:solidFill>
                <a:effectLst/>
                <a:latin typeface="Google Sans Text"/>
              </a:rPr>
              <a:t> Utilized as the primary enterprise-grade Large Language Model inference engine to</a:t>
            </a:r>
          </a:p>
          <a:p>
            <a:pPr marL="0" marR="0" lvl="0" indent="0" algn="l" defTabSz="914400" rtl="0" eaLnBrk="0" fontAlgn="base" latinLnBrk="0" hangingPunct="0">
              <a:lnSpc>
                <a:spcPct val="100000"/>
              </a:lnSpc>
              <a:spcBef>
                <a:spcPct val="0"/>
              </a:spcBef>
              <a:spcAft>
                <a:spcPct val="0"/>
              </a:spcAft>
              <a:buClrTx/>
              <a:buSzTx/>
              <a:tabLst/>
            </a:pPr>
            <a:r>
              <a:rPr kumimoji="0" lang="en-US" altLang="en-US" sz="1600" b="0" i="0" u="none" strike="noStrike" cap="none" normalizeH="0" baseline="0" dirty="0">
                <a:ln>
                  <a:noFill/>
                </a:ln>
                <a:solidFill>
                  <a:schemeClr val="tx1"/>
                </a:solidFill>
                <a:effectLst/>
                <a:latin typeface="Google Sans Text"/>
              </a:rPr>
              <a:t> process final prompt payloads and generate deterministic, context-grounded answers.</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600" b="0" i="0" u="none" strike="noStrike" cap="none" normalizeH="0" baseline="0" dirty="0">
              <a:ln>
                <a:noFill/>
              </a:ln>
              <a:solidFill>
                <a:schemeClr val="tx1"/>
              </a:solidFill>
              <a:effectLst/>
              <a:latin typeface="Google Sans Tex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IBM Slate (</a:t>
            </a:r>
            <a:r>
              <a:rPr kumimoji="0" lang="en-US" altLang="en-US" sz="1100" b="1" i="0" u="none" strike="noStrike" cap="none" normalizeH="0" baseline="0" dirty="0" err="1">
                <a:ln>
                  <a:noFill/>
                </a:ln>
                <a:solidFill>
                  <a:schemeClr val="tx1"/>
                </a:solidFill>
                <a:effectLst/>
                <a:latin typeface="Google Sans Text"/>
              </a:rPr>
              <a:t>ibm</a:t>
            </a:r>
            <a:r>
              <a:rPr kumimoji="0" lang="en-US" altLang="en-US" sz="1100" b="1" i="0" u="none" strike="noStrike" cap="none" normalizeH="0" baseline="0" dirty="0">
                <a:ln>
                  <a:noFill/>
                </a:ln>
                <a:solidFill>
                  <a:schemeClr val="tx1"/>
                </a:solidFill>
                <a:effectLst/>
                <a:latin typeface="Google Sans Text"/>
              </a:rPr>
              <a:t>/slate-125m-english-rtrvr-v2)</a:t>
            </a:r>
            <a:r>
              <a:rPr kumimoji="0" lang="en-US" altLang="en-US" sz="700" b="1" i="0" u="none" strike="noStrike" cap="none" normalizeH="0" baseline="0" dirty="0">
                <a:ln>
                  <a:noFill/>
                </a:ln>
                <a:solidFill>
                  <a:schemeClr val="tx1"/>
                </a:solidFill>
                <a:effectLst/>
                <a:latin typeface="Google Sans Text"/>
              </a:rPr>
              <a:t>:</a:t>
            </a:r>
            <a:r>
              <a:rPr kumimoji="0" lang="en-US" altLang="en-US" sz="1600" b="0" i="0" u="none" strike="noStrike" cap="none" normalizeH="0" baseline="0" dirty="0">
                <a:ln>
                  <a:noFill/>
                </a:ln>
                <a:solidFill>
                  <a:schemeClr val="tx1"/>
                </a:solidFill>
                <a:effectLst/>
                <a:latin typeface="Google Sans Text"/>
              </a:rPr>
              <a:t> Deployed as the underlying high-performance model family from the </a:t>
            </a:r>
            <a:r>
              <a:rPr kumimoji="0" lang="en-US" altLang="en-US" sz="1600" b="1" i="0" u="none" strike="noStrike" cap="none" normalizeH="0" baseline="0" dirty="0">
                <a:ln>
                  <a:noFill/>
                </a:ln>
                <a:solidFill>
                  <a:schemeClr val="tx1"/>
                </a:solidFill>
                <a:effectLst/>
                <a:latin typeface="Google Sans Text"/>
              </a:rPr>
              <a:t>IBM Granite</a:t>
            </a:r>
          </a:p>
          <a:p>
            <a:pPr marL="0" marR="0" lvl="0" indent="0" algn="l" defTabSz="914400" rtl="0" eaLnBrk="0" fontAlgn="base" latinLnBrk="0" hangingPunct="0">
              <a:lnSpc>
                <a:spcPct val="100000"/>
              </a:lnSpc>
              <a:spcBef>
                <a:spcPct val="0"/>
              </a:spcBef>
              <a:spcAft>
                <a:spcPct val="0"/>
              </a:spcAft>
              <a:buClrTx/>
              <a:buSzTx/>
              <a:tabLst/>
            </a:pPr>
            <a:r>
              <a:rPr kumimoji="0" lang="en-US" altLang="en-US" sz="1600" b="0" i="0" u="none" strike="noStrike" cap="none" normalizeH="0" baseline="0" dirty="0">
                <a:ln>
                  <a:noFill/>
                </a:ln>
                <a:solidFill>
                  <a:schemeClr val="tx1"/>
                </a:solidFill>
                <a:effectLst/>
                <a:latin typeface="Google Sans Text"/>
              </a:rPr>
              <a:t> umbrella to generate dense mathematical text vector embeddings.</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600" b="0" i="0" u="none" strike="noStrike" cap="none" normalizeH="0" baseline="0" dirty="0">
              <a:ln>
                <a:noFill/>
              </a:ln>
              <a:solidFill>
                <a:schemeClr val="tx1"/>
              </a:solidFill>
              <a:effectLst/>
              <a:latin typeface="Google Sans Tex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FAISS (Facebook AI Similarity Search):</a:t>
            </a:r>
            <a:r>
              <a:rPr kumimoji="0" lang="en-US" altLang="en-US" sz="1600" b="0" i="0" u="none" strike="noStrike" cap="none" normalizeH="0" baseline="0" dirty="0">
                <a:ln>
                  <a:noFill/>
                </a:ln>
                <a:solidFill>
                  <a:schemeClr val="tx1"/>
                </a:solidFill>
                <a:effectLst/>
                <a:latin typeface="Google Sans Text"/>
              </a:rPr>
              <a:t> Implemented as the local vector storage database to host the compressed</a:t>
            </a:r>
          </a:p>
          <a:p>
            <a:pPr marL="0" marR="0" lvl="0" indent="0" algn="l" defTabSz="914400" rtl="0" eaLnBrk="0" fontAlgn="base" latinLnBrk="0" hangingPunct="0">
              <a:lnSpc>
                <a:spcPct val="100000"/>
              </a:lnSpc>
              <a:spcBef>
                <a:spcPct val="0"/>
              </a:spcBef>
              <a:spcAft>
                <a:spcPct val="0"/>
              </a:spcAft>
              <a:buClrTx/>
              <a:buSzTx/>
              <a:tabLst/>
            </a:pPr>
            <a:r>
              <a:rPr kumimoji="0" lang="en-US" altLang="en-US" sz="1600" b="0" i="0" u="none" strike="noStrike" cap="none" normalizeH="0" baseline="0" dirty="0">
                <a:ln>
                  <a:noFill/>
                </a:ln>
                <a:solidFill>
                  <a:schemeClr val="tx1"/>
                </a:solidFill>
                <a:effectLst/>
                <a:latin typeface="Google Sans Text"/>
              </a:rPr>
              <a:t> document index matrix and execute high-speed cosine similarity searches.</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600" b="0" i="0" u="none" strike="noStrike" cap="none" normalizeH="0" baseline="0" dirty="0">
              <a:ln>
                <a:noFill/>
              </a:ln>
              <a:solidFill>
                <a:schemeClr val="tx1"/>
              </a:solidFill>
              <a:effectLst/>
              <a:latin typeface="Google Sans Tex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Python Text Processing Nodes:</a:t>
            </a:r>
            <a:r>
              <a:rPr kumimoji="0" lang="en-US" altLang="en-US" sz="1600" b="0" i="0" u="none" strike="noStrike" cap="none" normalizeH="0" baseline="0" dirty="0">
                <a:ln>
                  <a:noFill/>
                </a:ln>
                <a:solidFill>
                  <a:schemeClr val="tx1"/>
                </a:solidFill>
                <a:effectLst/>
                <a:latin typeface="Google Sans Text"/>
              </a:rPr>
              <a:t> Uses custom </a:t>
            </a:r>
            <a:r>
              <a:rPr kumimoji="0" lang="en-US" altLang="en-US" sz="1600" b="1" i="0" u="none" strike="noStrike" cap="none" normalizeH="0" baseline="0" dirty="0">
                <a:ln>
                  <a:noFill/>
                </a:ln>
                <a:solidFill>
                  <a:schemeClr val="tx1"/>
                </a:solidFill>
                <a:effectLst/>
                <a:latin typeface="Google Sans Text"/>
              </a:rPr>
              <a:t>Recursive Character Text Splitter</a:t>
            </a:r>
            <a:r>
              <a:rPr kumimoji="0" lang="en-US" altLang="en-US" sz="1600" b="0" i="0" u="none" strike="noStrike" cap="none" normalizeH="0" baseline="0" dirty="0">
                <a:ln>
                  <a:noFill/>
                </a:ln>
                <a:solidFill>
                  <a:schemeClr val="tx1"/>
                </a:solidFill>
                <a:effectLst/>
                <a:latin typeface="Google Sans Text"/>
              </a:rPr>
              <a:t> nodes for semantic chunk formatting</a:t>
            </a:r>
          </a:p>
          <a:p>
            <a:pPr marL="0" marR="0" lvl="0" indent="0" algn="l" defTabSz="914400" rtl="0" eaLnBrk="0" fontAlgn="base" latinLnBrk="0" hangingPunct="0">
              <a:lnSpc>
                <a:spcPct val="100000"/>
              </a:lnSpc>
              <a:spcBef>
                <a:spcPct val="0"/>
              </a:spcBef>
              <a:spcAft>
                <a:spcPct val="0"/>
              </a:spcAft>
              <a:buClrTx/>
              <a:buSzTx/>
              <a:tabLst/>
            </a:pPr>
            <a:r>
              <a:rPr kumimoji="0" lang="en-US" altLang="en-US" sz="1600" b="0" i="0" u="none" strike="noStrike" cap="none" normalizeH="0" baseline="0" dirty="0">
                <a:ln>
                  <a:noFill/>
                </a:ln>
                <a:solidFill>
                  <a:schemeClr val="tx1"/>
                </a:solidFill>
                <a:effectLst/>
                <a:latin typeface="Google Sans Text"/>
              </a:rPr>
              <a:t> (1200 chunk size, 200 overlap) and </a:t>
            </a:r>
            <a:r>
              <a:rPr kumimoji="0" lang="en-US" altLang="en-US" sz="1600" b="1" i="0" u="none" strike="noStrike" cap="none" normalizeH="0" baseline="0" dirty="0">
                <a:ln>
                  <a:noFill/>
                </a:ln>
                <a:solidFill>
                  <a:schemeClr val="tx1"/>
                </a:solidFill>
                <a:effectLst/>
                <a:latin typeface="Google Sans Text"/>
              </a:rPr>
              <a:t>Data Parser</a:t>
            </a:r>
            <a:r>
              <a:rPr kumimoji="0" lang="en-US" altLang="en-US" sz="1600" b="0" i="0" u="none" strike="noStrike" cap="none" normalizeH="0" baseline="0" dirty="0">
                <a:ln>
                  <a:noFill/>
                </a:ln>
                <a:solidFill>
                  <a:schemeClr val="tx1"/>
                </a:solidFill>
                <a:effectLst/>
                <a:latin typeface="Google Sans Text"/>
              </a:rPr>
              <a:t> blocks to stringify retrieved context streams cleanly.</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600" b="0" i="0" u="none" strike="noStrike" cap="none" normalizeH="0" baseline="0" dirty="0">
              <a:ln>
                <a:noFill/>
              </a:ln>
              <a:solidFill>
                <a:schemeClr val="tx1"/>
              </a:solidFill>
              <a:effectLst/>
              <a:latin typeface="Google Sans Tex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Infrastructure-as-Code (JSON Blueprinting):</a:t>
            </a:r>
            <a:r>
              <a:rPr kumimoji="0" lang="en-US" altLang="en-US" sz="1600" b="0" i="0" u="none" strike="noStrike" cap="none" normalizeH="0" baseline="0" dirty="0">
                <a:ln>
                  <a:noFill/>
                </a:ln>
                <a:solidFill>
                  <a:schemeClr val="tx1"/>
                </a:solidFill>
                <a:effectLst/>
                <a:latin typeface="Google Sans Text"/>
              </a:rPr>
              <a:t> Leveraged to securely sanitize, serialize, and export the entire canvas</a:t>
            </a:r>
          </a:p>
          <a:p>
            <a:pPr marL="0" marR="0" lvl="0" indent="0" algn="l" defTabSz="914400" rtl="0" eaLnBrk="0" fontAlgn="base" latinLnBrk="0" hangingPunct="0">
              <a:lnSpc>
                <a:spcPct val="100000"/>
              </a:lnSpc>
              <a:spcBef>
                <a:spcPct val="0"/>
              </a:spcBef>
              <a:spcAft>
                <a:spcPct val="0"/>
              </a:spcAft>
              <a:buClrTx/>
              <a:buSzTx/>
              <a:tabLst/>
            </a:pPr>
            <a:r>
              <a:rPr kumimoji="0" lang="en-US" altLang="en-US" sz="1600" b="0" i="0" u="none" strike="noStrike" cap="none" normalizeH="0" baseline="0" dirty="0">
                <a:ln>
                  <a:noFill/>
                </a:ln>
                <a:solidFill>
                  <a:schemeClr val="tx1"/>
                </a:solidFill>
                <a:effectLst/>
                <a:latin typeface="Google Sans Text"/>
              </a:rPr>
              <a:t> workflow for zero-trust portability without exposing developer billing credentials.</a:t>
            </a:r>
            <a:endParaRPr kumimoji="0" lang="en-US" altLang="en-US" sz="1600" b="0" i="0" u="none" strike="noStrike" cap="none" normalizeH="0" baseline="0" dirty="0">
              <a:ln>
                <a:noFill/>
              </a:ln>
              <a:solidFill>
                <a:schemeClr val="tx1"/>
              </a:solidFill>
              <a:effectLst/>
              <a:latin typeface="Arial" panose="020B0604020202020204" pitchFamily="34" charset="0"/>
            </a:endParaRPr>
          </a:p>
        </p:txBody>
      </p:sp>
      <p:sp>
        <p:nvSpPr>
          <p:cNvPr id="3" name="TextBox 2">
            <a:extLst>
              <a:ext uri="{FF2B5EF4-FFF2-40B4-BE49-F238E27FC236}">
                <a16:creationId xmlns:a16="http://schemas.microsoft.com/office/drawing/2014/main" id="{FBD926A1-0833-2949-651F-2AAB4D91A8C9}"/>
              </a:ext>
            </a:extLst>
          </p:cNvPr>
          <p:cNvSpPr txBox="1"/>
          <p:nvPr/>
        </p:nvSpPr>
        <p:spPr>
          <a:xfrm>
            <a:off x="576072" y="704088"/>
            <a:ext cx="7214616" cy="461665"/>
          </a:xfrm>
          <a:prstGeom prst="rect">
            <a:avLst/>
          </a:prstGeom>
          <a:noFill/>
        </p:spPr>
        <p:txBody>
          <a:bodyPr wrap="square" rtlCol="0">
            <a:spAutoFit/>
          </a:bodyPr>
          <a:lstStyle/>
          <a:p>
            <a:r>
              <a:rPr lang="en-US" sz="2400" b="1" dirty="0"/>
              <a:t>Technology Used </a:t>
            </a:r>
            <a:endParaRPr lang="en-IN" sz="2400" b="1" dirty="0"/>
          </a:p>
        </p:txBody>
      </p:sp>
    </p:spTree>
    <p:extLst>
      <p:ext uri="{BB962C8B-B14F-4D97-AF65-F5344CB8AC3E}">
        <p14:creationId xmlns:p14="http://schemas.microsoft.com/office/powerpoint/2010/main" val="4218467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075134"/>
            <a:ext cx="10607040" cy="984885"/>
          </a:xfrm>
          <a:prstGeom prst="rect">
            <a:avLst/>
          </a:prstGeom>
          <a:noFill/>
        </p:spPr>
        <p:txBody>
          <a:bodyPr wrap="square" rtlCol="0">
            <a:spAutoFit/>
          </a:bodyPr>
          <a:lstStyle/>
          <a:p>
            <a:pPr fontAlgn="base"/>
            <a:endParaRPr lang="en-US" b="1" dirty="0"/>
          </a:p>
          <a:p>
            <a:r>
              <a:rPr lang="en-US" b="1" dirty="0"/>
              <a:t>Proposed Solution: </a:t>
            </a:r>
            <a:r>
              <a:rPr lang="en-US" sz="1600" b="1" dirty="0"/>
              <a:t>RAG Admission Agent</a:t>
            </a:r>
          </a:p>
          <a:p>
            <a:pPr fontAlgn="base"/>
            <a:endParaRPr lang="en-US" dirty="0"/>
          </a:p>
          <a:p>
            <a:endParaRPr lang="en-IN" dirty="0"/>
          </a:p>
        </p:txBody>
      </p:sp>
      <p:sp>
        <p:nvSpPr>
          <p:cNvPr id="5" name="Rectangle 2">
            <a:extLst>
              <a:ext uri="{FF2B5EF4-FFF2-40B4-BE49-F238E27FC236}">
                <a16:creationId xmlns:a16="http://schemas.microsoft.com/office/drawing/2014/main" id="{F585F7DF-EC08-0716-BBCC-9AB0227EE0CB}"/>
              </a:ext>
            </a:extLst>
          </p:cNvPr>
          <p:cNvSpPr>
            <a:spLocks noChangeArrowheads="1"/>
          </p:cNvSpPr>
          <p:nvPr/>
        </p:nvSpPr>
        <p:spPr bwMode="auto">
          <a:xfrm>
            <a:off x="576072" y="1764479"/>
            <a:ext cx="11141446" cy="4678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tx1"/>
                </a:solidFill>
                <a:effectLst/>
                <a:latin typeface="Google Sans Text"/>
              </a:rPr>
              <a:t>To resolve this, we engineered a secure, production-ready </a:t>
            </a:r>
            <a:r>
              <a:rPr kumimoji="0" lang="en-US" altLang="en-US" b="1" i="0" u="none" strike="noStrike" cap="none" normalizeH="0" baseline="0" dirty="0">
                <a:ln>
                  <a:noFill/>
                </a:ln>
                <a:solidFill>
                  <a:schemeClr val="tx1"/>
                </a:solidFill>
                <a:effectLst/>
                <a:latin typeface="Google Sans Text"/>
              </a:rPr>
              <a:t>Retrieval-Augmented Generation (RAG)</a:t>
            </a:r>
            <a:r>
              <a:rPr kumimoji="0" lang="en-US" altLang="en-US" b="0" i="0" u="none" strike="noStrike" cap="none" normalizeH="0" baseline="0" dirty="0">
                <a:ln>
                  <a:noFill/>
                </a:ln>
                <a:solidFill>
                  <a:schemeClr val="tx1"/>
                </a:solidFill>
                <a:effectLst/>
                <a:latin typeface="Google Sans Text"/>
              </a:rPr>
              <a:t> pipeline designed</a:t>
            </a:r>
            <a:r>
              <a:rPr lang="en-US" altLang="en-US" dirty="0">
                <a:solidFill>
                  <a:schemeClr val="tx1"/>
                </a:solidFill>
                <a:latin typeface="Google Sans Text"/>
              </a:rPr>
              <a:t> </a:t>
            </a:r>
            <a:r>
              <a:rPr kumimoji="0" lang="en-US" altLang="en-US" b="0" i="0" u="none" strike="noStrike" cap="none" normalizeH="0" baseline="0" dirty="0">
                <a:ln>
                  <a:noFill/>
                </a:ln>
                <a:solidFill>
                  <a:schemeClr val="tx1"/>
                </a:solidFill>
                <a:effectLst/>
                <a:latin typeface="Google Sans Text"/>
              </a:rPr>
              <a:t>inside </a:t>
            </a:r>
            <a:r>
              <a:rPr kumimoji="0" lang="en-US" altLang="en-US" b="1" i="0" u="none" strike="noStrike" cap="none" normalizeH="0" baseline="0" dirty="0" err="1">
                <a:ln>
                  <a:noFill/>
                </a:ln>
                <a:solidFill>
                  <a:schemeClr val="tx1"/>
                </a:solidFill>
                <a:effectLst/>
                <a:latin typeface="Google Sans Text"/>
              </a:rPr>
              <a:t>Langflow</a:t>
            </a:r>
            <a:r>
              <a:rPr kumimoji="0" lang="en-US" altLang="en-US" b="0" i="0" u="none" strike="noStrike" cap="none" normalizeH="0" baseline="0" dirty="0">
                <a:ln>
                  <a:noFill/>
                </a:ln>
                <a:solidFill>
                  <a:schemeClr val="tx1"/>
                </a:solidFill>
                <a:effectLst/>
                <a:latin typeface="Google Sans Text"/>
              </a:rPr>
              <a:t> and accelerated by the </a:t>
            </a:r>
            <a:r>
              <a:rPr kumimoji="0" lang="en-US" altLang="en-US" b="1" i="0" u="none" strike="noStrike" cap="none" normalizeH="0" baseline="0" dirty="0">
                <a:ln>
                  <a:noFill/>
                </a:ln>
                <a:solidFill>
                  <a:schemeClr val="tx1"/>
                </a:solidFill>
                <a:effectLst/>
                <a:latin typeface="Google Sans Text"/>
              </a:rPr>
              <a:t>IBM watsonx.ai</a:t>
            </a:r>
            <a:r>
              <a:rPr kumimoji="0" lang="en-US" altLang="en-US" b="0" i="0" u="none" strike="noStrike" cap="none" normalizeH="0" baseline="0" dirty="0">
                <a:ln>
                  <a:noFill/>
                </a:ln>
                <a:solidFill>
                  <a:schemeClr val="tx1"/>
                </a:solidFill>
                <a:effectLst/>
                <a:latin typeface="Google Sans Text"/>
              </a:rPr>
              <a:t> ecosystem. The system guarantees </a:t>
            </a:r>
            <a:r>
              <a:rPr kumimoji="0" lang="en-US" altLang="en-US" b="1" i="0" u="none" strike="noStrike" cap="none" normalizeH="0" baseline="0" dirty="0">
                <a:ln>
                  <a:noFill/>
                </a:ln>
                <a:solidFill>
                  <a:schemeClr val="tx1"/>
                </a:solidFill>
                <a:effectLst/>
                <a:latin typeface="Google Sans Text"/>
              </a:rPr>
              <a:t>100% deterministic,</a:t>
            </a:r>
            <a:r>
              <a:rPr lang="en-US" altLang="en-US" b="1" dirty="0">
                <a:solidFill>
                  <a:schemeClr val="tx1"/>
                </a:solidFill>
                <a:latin typeface="Google Sans Text"/>
              </a:rPr>
              <a:t> </a:t>
            </a:r>
            <a:r>
              <a:rPr kumimoji="0" lang="en-US" altLang="en-US" b="1" i="0" u="none" strike="noStrike" cap="none" normalizeH="0" baseline="0" dirty="0">
                <a:ln>
                  <a:noFill/>
                </a:ln>
                <a:solidFill>
                  <a:schemeClr val="tx1"/>
                </a:solidFill>
                <a:effectLst/>
                <a:latin typeface="Google Sans Text"/>
              </a:rPr>
              <a:t>hallucination-free guidance</a:t>
            </a:r>
            <a:r>
              <a:rPr kumimoji="0" lang="en-US" altLang="en-US" b="0" i="0" u="none" strike="noStrike" cap="none" normalizeH="0" baseline="0" dirty="0">
                <a:ln>
                  <a:noFill/>
                </a:ln>
                <a:solidFill>
                  <a:schemeClr val="tx1"/>
                </a:solidFill>
                <a:effectLst/>
                <a:latin typeface="Google Sans Text"/>
              </a:rPr>
              <a:t> by explicitly grounding the AI's intelligence within official institutional policy guidelines.</a:t>
            </a:r>
            <a:endParaRPr kumimoji="0" lang="en-US" altLang="en-US" sz="700" b="1" i="0" u="none" strike="noStrike" cap="none" normalizeH="0" baseline="0" dirty="0">
              <a:ln>
                <a:noFill/>
              </a:ln>
              <a:solidFill>
                <a:schemeClr val="tx1"/>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700" b="1" i="0" u="none" strike="noStrike" cap="none" normalizeH="0" baseline="0" dirty="0">
              <a:ln>
                <a:noFill/>
              </a:ln>
              <a:solidFill>
                <a:schemeClr val="tx1"/>
              </a:solidFill>
              <a:effectLst/>
              <a:latin typeface="Google Sans Tex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Google Sans Text"/>
              </a:rPr>
              <a:t>Core Pillars of the Solution:</a:t>
            </a:r>
            <a:endParaRPr kumimoji="0" lang="en-US" altLang="en-US" sz="1600" b="1" i="0" u="none" strike="noStrike" cap="none" normalizeH="0" baseline="0" dirty="0">
              <a:ln>
                <a:noFill/>
              </a:ln>
              <a:solidFill>
                <a:schemeClr val="tx1"/>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100" b="1" i="0" u="none" strike="noStrike" cap="none" normalizeH="0" baseline="0" dirty="0">
                <a:ln>
                  <a:noFill/>
                </a:ln>
                <a:solidFill>
                  <a:schemeClr val="tx1"/>
                </a:solidFill>
                <a:effectLst/>
                <a:latin typeface="Google Sans Text"/>
              </a:rPr>
              <a:t>Advanced Semantic </a:t>
            </a:r>
            <a:r>
              <a:rPr kumimoji="0" lang="en-US" altLang="en-US" sz="1100" b="1" i="0" u="none" strike="noStrike" cap="none" normalizeH="0" baseline="0" dirty="0" err="1">
                <a:ln>
                  <a:noFill/>
                </a:ln>
                <a:solidFill>
                  <a:schemeClr val="tx1"/>
                </a:solidFill>
                <a:effectLst/>
                <a:latin typeface="Google Sans Text"/>
              </a:rPr>
              <a:t>Chunking:</a:t>
            </a:r>
            <a:r>
              <a:rPr kumimoji="0" lang="en-US" altLang="en-US" b="0" i="0" u="none" strike="noStrike" cap="none" normalizeH="0" baseline="0" dirty="0" err="1">
                <a:ln>
                  <a:noFill/>
                </a:ln>
                <a:solidFill>
                  <a:schemeClr val="tx1"/>
                </a:solidFill>
                <a:effectLst/>
                <a:latin typeface="Google Sans Text"/>
              </a:rPr>
              <a:t>Uses</a:t>
            </a:r>
            <a:r>
              <a:rPr kumimoji="0" lang="en-US" altLang="en-US" b="0" i="0" u="none" strike="noStrike" cap="none" normalizeH="0" baseline="0" dirty="0">
                <a:ln>
                  <a:noFill/>
                </a:ln>
                <a:solidFill>
                  <a:schemeClr val="tx1"/>
                </a:solidFill>
                <a:effectLst/>
                <a:latin typeface="Google Sans Text"/>
              </a:rPr>
              <a:t> a customized text splitter (1000-character chunk, 200-character overlap) to index</a:t>
            </a:r>
            <a:r>
              <a:rPr lang="en-US" altLang="en-US" dirty="0">
                <a:solidFill>
                  <a:schemeClr val="tx1"/>
                </a:solidFill>
                <a:latin typeface="Google Sans Text"/>
              </a:rPr>
              <a:t> </a:t>
            </a:r>
            <a:r>
              <a:rPr kumimoji="0" lang="en-US" altLang="en-US" b="0" i="0" u="none" strike="noStrike" cap="none" normalizeH="0" baseline="0" dirty="0">
                <a:ln>
                  <a:noFill/>
                </a:ln>
                <a:solidFill>
                  <a:schemeClr val="tx1"/>
                </a:solidFill>
                <a:effectLst/>
                <a:latin typeface="Google Sans Text"/>
              </a:rPr>
              <a:t>complex pricing matrices, document checklists, and cutoff data as unified data assets—ensuring data transitions</a:t>
            </a:r>
          </a:p>
          <a:p>
            <a:pPr marL="0" marR="0" lvl="0" indent="0" algn="l" defTabSz="914400" rtl="0" eaLnBrk="0" fontAlgn="base" latinLnBrk="0" hangingPunct="0">
              <a:lnSpc>
                <a:spcPct val="100000"/>
              </a:lnSpc>
              <a:spcBef>
                <a:spcPct val="0"/>
              </a:spcBef>
              <a:spcAft>
                <a:spcPct val="0"/>
              </a:spcAft>
              <a:buClrTx/>
              <a:buSzTx/>
              <a:tabLst/>
            </a:pPr>
            <a:r>
              <a:rPr kumimoji="0" lang="en-US" altLang="en-US" b="0" i="0" u="none" strike="noStrike" cap="none" normalizeH="0" baseline="0" dirty="0">
                <a:ln>
                  <a:noFill/>
                </a:ln>
                <a:solidFill>
                  <a:schemeClr val="tx1"/>
                </a:solidFill>
                <a:effectLst/>
                <a:latin typeface="Google Sans Text"/>
              </a:rPr>
              <a:t>never lose context.</a:t>
            </a:r>
          </a:p>
          <a:p>
            <a:pPr marL="0" marR="0" lvl="0" indent="0" algn="l" defTabSz="914400" rtl="0" eaLnBrk="0" fontAlgn="base" latinLnBrk="0" hangingPunct="0">
              <a:lnSpc>
                <a:spcPct val="100000"/>
              </a:lnSpc>
              <a:spcBef>
                <a:spcPct val="0"/>
              </a:spcBef>
              <a:spcAft>
                <a:spcPct val="0"/>
              </a:spcAft>
              <a:buClrTx/>
              <a:buSzTx/>
              <a:tabLst/>
            </a:pPr>
            <a:endParaRPr kumimoji="0" lang="en-US" altLang="en-US" b="0" i="0" u="none" strike="noStrike" cap="none" normalizeH="0" baseline="0" dirty="0">
              <a:ln>
                <a:noFill/>
              </a:ln>
              <a:solidFill>
                <a:schemeClr val="tx1"/>
              </a:solidFill>
              <a:effectLst/>
              <a:latin typeface="Google Sans Tex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Google Sans Text"/>
              </a:rPr>
              <a:t>IBM Granite &amp; Slate </a:t>
            </a:r>
            <a:r>
              <a:rPr kumimoji="0" lang="en-US" altLang="en-US" b="1" i="0" u="none" strike="noStrike" cap="none" normalizeH="0" baseline="0" dirty="0" err="1">
                <a:ln>
                  <a:noFill/>
                </a:ln>
                <a:solidFill>
                  <a:schemeClr val="tx1"/>
                </a:solidFill>
                <a:effectLst/>
                <a:latin typeface="Google Sans Text"/>
              </a:rPr>
              <a:t>Intelligence:</a:t>
            </a:r>
            <a:r>
              <a:rPr kumimoji="0" lang="en-US" altLang="en-US" b="0" i="0" u="none" strike="noStrike" cap="none" normalizeH="0" baseline="0" dirty="0" err="1">
                <a:ln>
                  <a:noFill/>
                </a:ln>
                <a:solidFill>
                  <a:schemeClr val="tx1"/>
                </a:solidFill>
                <a:effectLst/>
                <a:latin typeface="Google Sans Text"/>
              </a:rPr>
              <a:t>Leverages</a:t>
            </a:r>
            <a:r>
              <a:rPr kumimoji="0" lang="en-US" altLang="en-US" b="0" i="0" u="none" strike="noStrike" cap="none" normalizeH="0" baseline="0" dirty="0">
                <a:ln>
                  <a:noFill/>
                </a:ln>
                <a:solidFill>
                  <a:schemeClr val="tx1"/>
                </a:solidFill>
                <a:effectLst/>
                <a:latin typeface="Google Sans Text"/>
              </a:rPr>
              <a:t> the </a:t>
            </a:r>
            <a:r>
              <a:rPr kumimoji="0" lang="en-US" altLang="en-US" b="1" i="0" u="none" strike="noStrike" cap="none" normalizeH="0" baseline="0" dirty="0">
                <a:ln>
                  <a:noFill/>
                </a:ln>
                <a:solidFill>
                  <a:schemeClr val="tx1"/>
                </a:solidFill>
                <a:effectLst/>
                <a:latin typeface="Google Sans Text"/>
              </a:rPr>
              <a:t>IBM Slate embedding engine</a:t>
            </a:r>
            <a:r>
              <a:rPr kumimoji="0" lang="en-US" altLang="en-US" b="0" i="0" u="none" strike="noStrike" cap="none" normalizeH="0" baseline="0" dirty="0">
                <a:ln>
                  <a:noFill/>
                </a:ln>
                <a:solidFill>
                  <a:schemeClr val="tx1"/>
                </a:solidFill>
                <a:effectLst/>
                <a:latin typeface="Google Sans Text"/>
              </a:rPr>
              <a:t> (</a:t>
            </a:r>
            <a:r>
              <a:rPr kumimoji="0" lang="en-US" altLang="en-US" sz="1600" b="0" i="0" u="none" strike="noStrike" cap="none" normalizeH="0" baseline="0" dirty="0">
                <a:ln>
                  <a:noFill/>
                </a:ln>
                <a:solidFill>
                  <a:schemeClr val="tx1"/>
                </a:solidFill>
                <a:effectLst/>
                <a:latin typeface="Google Sans Text"/>
              </a:rPr>
              <a:t>slate-125m-english-rtrvr-v2</a:t>
            </a:r>
            <a:r>
              <a:rPr kumimoji="0" lang="en-US" altLang="en-US" sz="1200" b="0" i="0" u="none" strike="noStrike" cap="none" normalizeH="0" baseline="0" dirty="0">
                <a:ln>
                  <a:noFill/>
                </a:ln>
                <a:solidFill>
                  <a:schemeClr val="tx1"/>
                </a:solidFill>
                <a:effectLst/>
                <a:latin typeface="Google Sans Text"/>
              </a:rPr>
              <a:t>) to</a:t>
            </a:r>
            <a:r>
              <a:rPr lang="en-US" altLang="en-US" sz="1200" dirty="0">
                <a:solidFill>
                  <a:schemeClr val="tx1"/>
                </a:solidFill>
                <a:latin typeface="Google Sans Text"/>
              </a:rPr>
              <a:t> </a:t>
            </a:r>
            <a:r>
              <a:rPr kumimoji="0" lang="en-US" altLang="en-US" sz="1200" b="0" i="0" u="none" strike="noStrike" cap="none" normalizeH="0" baseline="0" dirty="0">
                <a:ln>
                  <a:noFill/>
                </a:ln>
                <a:solidFill>
                  <a:schemeClr val="tx1"/>
                </a:solidFill>
                <a:effectLst/>
                <a:latin typeface="Google Sans Text"/>
              </a:rPr>
              <a:t>mathematically vectorize documents for a localized.</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200" b="0" i="0" u="none" strike="noStrike" cap="none" normalizeH="0" baseline="0" dirty="0">
              <a:ln>
                <a:noFill/>
              </a:ln>
              <a:solidFill>
                <a:schemeClr val="tx1"/>
              </a:solidFill>
              <a:effectLst/>
              <a:latin typeface="Google Sans Tex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Google Sans Text"/>
              </a:rPr>
              <a:t>FAISS vector </a:t>
            </a:r>
            <a:r>
              <a:rPr kumimoji="0" lang="en-US" altLang="en-US" b="1" i="0" u="none" strike="noStrike" cap="none" normalizeH="0" baseline="0" dirty="0" err="1">
                <a:ln>
                  <a:noFill/>
                </a:ln>
                <a:solidFill>
                  <a:schemeClr val="tx1"/>
                </a:solidFill>
                <a:effectLst/>
                <a:latin typeface="Google Sans Text"/>
              </a:rPr>
              <a:t>repository</a:t>
            </a:r>
            <a:r>
              <a:rPr lang="en-US" altLang="en-US" dirty="0" err="1">
                <a:solidFill>
                  <a:schemeClr val="tx1"/>
                </a:solidFill>
                <a:latin typeface="Google Sans Text"/>
              </a:rPr>
              <a:t>:</a:t>
            </a:r>
            <a:r>
              <a:rPr kumimoji="0" lang="en-US" altLang="en-US" b="0" i="0" u="none" strike="noStrike" cap="none" normalizeH="0" baseline="0" dirty="0" err="1">
                <a:ln>
                  <a:noFill/>
                </a:ln>
                <a:solidFill>
                  <a:schemeClr val="tx1"/>
                </a:solidFill>
                <a:effectLst/>
                <a:latin typeface="Google Sans Text"/>
              </a:rPr>
              <a:t>Utilizes</a:t>
            </a:r>
            <a:r>
              <a:rPr kumimoji="0" lang="en-US" altLang="en-US" b="0" i="0" u="none" strike="noStrike" cap="none" normalizeH="0" baseline="0" dirty="0">
                <a:ln>
                  <a:noFill/>
                </a:ln>
                <a:solidFill>
                  <a:schemeClr val="tx1"/>
                </a:solidFill>
                <a:effectLst/>
                <a:latin typeface="Google Sans Text"/>
              </a:rPr>
              <a:t> a deep search depth and a flattened parsing structure to provide the LLM with</a:t>
            </a:r>
            <a:r>
              <a:rPr lang="en-US" altLang="en-US" dirty="0">
                <a:solidFill>
                  <a:schemeClr val="tx1"/>
                </a:solidFill>
                <a:latin typeface="Google Sans Text"/>
              </a:rPr>
              <a:t> </a:t>
            </a:r>
            <a:r>
              <a:rPr kumimoji="0" lang="en-US" altLang="en-US" b="0" i="0" u="none" strike="noStrike" cap="none" normalizeH="0" baseline="0" dirty="0">
                <a:ln>
                  <a:noFill/>
                </a:ln>
                <a:solidFill>
                  <a:schemeClr val="tx1"/>
                </a:solidFill>
                <a:effectLst/>
                <a:latin typeface="Google Sans Text"/>
              </a:rPr>
              <a:t>comprehensive context for every prompt.</a:t>
            </a:r>
          </a:p>
          <a:p>
            <a:pPr marL="0" marR="0" lvl="0" indent="0" algn="l" defTabSz="914400" rtl="0" eaLnBrk="0" fontAlgn="base" latinLnBrk="0" hangingPunct="0">
              <a:lnSpc>
                <a:spcPct val="100000"/>
              </a:lnSpc>
              <a:spcBef>
                <a:spcPct val="0"/>
              </a:spcBef>
              <a:spcAft>
                <a:spcPct val="0"/>
              </a:spcAft>
              <a:buClrTx/>
              <a:buSzTx/>
              <a:tabLst/>
            </a:pPr>
            <a:endParaRPr kumimoji="0" lang="en-US" altLang="en-US" b="0" i="0" u="none" strike="noStrike" cap="none" normalizeH="0" baseline="0" dirty="0">
              <a:ln>
                <a:noFill/>
              </a:ln>
              <a:solidFill>
                <a:schemeClr val="tx1"/>
              </a:solidFill>
              <a:effectLst/>
              <a:latin typeface="Google Sans Tex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Google Sans Text"/>
              </a:rPr>
              <a:t>Deterministic Guardrails:</a:t>
            </a:r>
            <a:r>
              <a:rPr kumimoji="0" lang="en-US" altLang="en-US" b="0" i="0" u="none" strike="noStrike" cap="none" normalizeH="0" baseline="0" dirty="0">
                <a:ln>
                  <a:noFill/>
                </a:ln>
                <a:solidFill>
                  <a:schemeClr val="tx1"/>
                </a:solidFill>
                <a:effectLst/>
                <a:latin typeface="Google Sans Text"/>
              </a:rPr>
              <a:t> The final evaluation is executed via an elite </a:t>
            </a:r>
            <a:r>
              <a:rPr kumimoji="0" lang="en-US" altLang="en-US" b="1" i="0" u="none" strike="noStrike" cap="none" normalizeH="0" baseline="0" dirty="0">
                <a:ln>
                  <a:noFill/>
                </a:ln>
                <a:solidFill>
                  <a:schemeClr val="tx1"/>
                </a:solidFill>
                <a:effectLst/>
                <a:latin typeface="Google Sans Text"/>
              </a:rPr>
              <a:t>IBM watsonx.ai LLM instruction model</a:t>
            </a:r>
            <a:r>
              <a:rPr kumimoji="0" lang="en-US" altLang="en-US" b="0" i="0" u="none" strike="noStrike" cap="none" normalizeH="0" baseline="0" dirty="0">
                <a:ln>
                  <a:noFill/>
                </a:ln>
                <a:solidFill>
                  <a:schemeClr val="tx1"/>
                </a:solidFill>
                <a:effectLst/>
                <a:latin typeface="Google Sans Text"/>
              </a:rPr>
              <a:t>,</a:t>
            </a:r>
            <a:r>
              <a:rPr lang="en-US" altLang="en-US" dirty="0">
                <a:solidFill>
                  <a:schemeClr val="tx1"/>
                </a:solidFill>
                <a:latin typeface="Google Sans Text"/>
              </a:rPr>
              <a:t> </a:t>
            </a:r>
            <a:r>
              <a:rPr kumimoji="0" lang="en-US" altLang="en-US" b="0" i="0" u="none" strike="noStrike" cap="none" normalizeH="0" baseline="0" dirty="0">
                <a:ln>
                  <a:noFill/>
                </a:ln>
                <a:solidFill>
                  <a:schemeClr val="tx1"/>
                </a:solidFill>
                <a:effectLst/>
                <a:latin typeface="Google Sans Text"/>
              </a:rPr>
              <a:t>strictly bound by custom system prompt engineering. If a fee or cutoff isn't written in the official text file, the model</a:t>
            </a:r>
            <a:r>
              <a:rPr lang="en-US" altLang="en-US" dirty="0">
                <a:solidFill>
                  <a:schemeClr val="tx1"/>
                </a:solidFill>
                <a:latin typeface="Google Sans Text"/>
              </a:rPr>
              <a:t> </a:t>
            </a:r>
            <a:r>
              <a:rPr kumimoji="0" lang="en-US" altLang="en-US" b="0" i="0" u="none" strike="noStrike" cap="none" normalizeH="0" baseline="0" dirty="0">
                <a:ln>
                  <a:noFill/>
                </a:ln>
                <a:solidFill>
                  <a:schemeClr val="tx1"/>
                </a:solidFill>
                <a:effectLst/>
                <a:latin typeface="Google Sans Text"/>
              </a:rPr>
              <a:t>is restricted from making it up.</a:t>
            </a:r>
          </a:p>
          <a:p>
            <a:pPr marL="0" marR="0" lvl="0" indent="0" algn="l" defTabSz="914400" rtl="0" eaLnBrk="0" fontAlgn="base" latinLnBrk="0" hangingPunct="0">
              <a:lnSpc>
                <a:spcPct val="100000"/>
              </a:lnSpc>
              <a:spcBef>
                <a:spcPct val="0"/>
              </a:spcBef>
              <a:spcAft>
                <a:spcPct val="0"/>
              </a:spcAft>
              <a:buClrTx/>
              <a:buSzTx/>
              <a:tabLst/>
            </a:pPr>
            <a:endParaRPr kumimoji="0" lang="en-US" altLang="en-US" b="0" i="0" u="none" strike="noStrike" cap="none" normalizeH="0" baseline="0" dirty="0">
              <a:ln>
                <a:noFill/>
              </a:ln>
              <a:solidFill>
                <a:schemeClr val="tx1"/>
              </a:solidFill>
              <a:effectLst/>
              <a:latin typeface="Google Sans Tex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Google Sans Text"/>
              </a:rPr>
              <a:t>Zero-Trust Security Infrastructure:</a:t>
            </a:r>
            <a:r>
              <a:rPr kumimoji="0" lang="en-US" altLang="en-US" b="0" i="0" u="none" strike="noStrike" cap="none" normalizeH="0" baseline="0" dirty="0">
                <a:ln>
                  <a:noFill/>
                </a:ln>
                <a:solidFill>
                  <a:schemeClr val="tx1"/>
                </a:solidFill>
                <a:effectLst/>
                <a:latin typeface="Google Sans Text"/>
              </a:rPr>
              <a:t> Built as an entirely secure, portable </a:t>
            </a:r>
            <a:r>
              <a:rPr kumimoji="0" lang="en-US" altLang="en-US" b="1" i="0" u="none" strike="noStrike" cap="none" normalizeH="0" baseline="0" dirty="0">
                <a:ln>
                  <a:noFill/>
                </a:ln>
                <a:solidFill>
                  <a:schemeClr val="tx1"/>
                </a:solidFill>
                <a:effectLst/>
                <a:latin typeface="Google Sans Text"/>
              </a:rPr>
              <a:t>Infrastructure-as-Code</a:t>
            </a:r>
            <a:r>
              <a:rPr kumimoji="0" lang="en-US" altLang="en-US" b="0" i="0" u="none" strike="noStrike" cap="none" normalizeH="0" baseline="0" dirty="0">
                <a:ln>
                  <a:noFill/>
                </a:ln>
                <a:solidFill>
                  <a:schemeClr val="tx1"/>
                </a:solidFill>
                <a:effectLst/>
                <a:latin typeface="Google Sans Text"/>
              </a:rPr>
              <a:t> schematic. The</a:t>
            </a:r>
            <a:r>
              <a:rPr lang="en-US" altLang="en-US" dirty="0">
                <a:solidFill>
                  <a:schemeClr val="tx1"/>
                </a:solidFill>
                <a:latin typeface="Google Sans Text"/>
              </a:rPr>
              <a:t> </a:t>
            </a:r>
            <a:r>
              <a:rPr kumimoji="0" lang="en-US" altLang="en-US" b="0" i="0" u="none" strike="noStrike" cap="none" normalizeH="0" baseline="0" dirty="0">
                <a:ln>
                  <a:noFill/>
                </a:ln>
                <a:solidFill>
                  <a:schemeClr val="tx1"/>
                </a:solidFill>
                <a:effectLst/>
                <a:latin typeface="Google Sans Text"/>
              </a:rPr>
              <a:t>configuration layout completely strips out private developer billing credentials, allowing evaluating authorities</a:t>
            </a:r>
            <a:r>
              <a:rPr lang="en-US" altLang="en-US" dirty="0">
                <a:solidFill>
                  <a:schemeClr val="tx1"/>
                </a:solidFill>
                <a:latin typeface="Google Sans Text"/>
              </a:rPr>
              <a:t> </a:t>
            </a:r>
            <a:r>
              <a:rPr kumimoji="0" lang="en-US" altLang="en-US" b="0" i="0" u="none" strike="noStrike" cap="none" normalizeH="0" baseline="0" dirty="0">
                <a:ln>
                  <a:noFill/>
                </a:ln>
                <a:solidFill>
                  <a:schemeClr val="tx1"/>
                </a:solidFill>
                <a:effectLst/>
                <a:latin typeface="Google Sans Text"/>
              </a:rPr>
              <a:t>to instantly import the JSON architecture and scale it securely using their own keys.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Arial" panose="020B0604020202020204" pitchFamily="34" charset="0"/>
            </a:endParaRPr>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dirty="0"/>
              <a:t>Proposed Solution -</a:t>
            </a:r>
            <a:endParaRPr lang="en-IN" sz="2400" b="1" dirty="0"/>
          </a:p>
        </p:txBody>
      </p:sp>
    </p:spTree>
    <p:extLst>
      <p:ext uri="{BB962C8B-B14F-4D97-AF65-F5344CB8AC3E}">
        <p14:creationId xmlns:p14="http://schemas.microsoft.com/office/powerpoint/2010/main" val="2290294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6" name="Rectangle 3">
            <a:extLst>
              <a:ext uri="{FF2B5EF4-FFF2-40B4-BE49-F238E27FC236}">
                <a16:creationId xmlns:a16="http://schemas.microsoft.com/office/drawing/2014/main" id="{B24C3AE1-E82D-06D6-C04D-5A9271BA12BC}"/>
              </a:ext>
            </a:extLst>
          </p:cNvPr>
          <p:cNvSpPr>
            <a:spLocks noChangeArrowheads="1"/>
          </p:cNvSpPr>
          <p:nvPr/>
        </p:nvSpPr>
        <p:spPr bwMode="auto">
          <a:xfrm>
            <a:off x="350519" y="806766"/>
            <a:ext cx="11960325" cy="59093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File / Text Loader Component</a:t>
            </a:r>
            <a:r>
              <a:rPr lang="en-US" altLang="en-US" sz="1800" dirty="0">
                <a:solidFill>
                  <a:schemeClr val="tx1"/>
                </a:solidFill>
                <a:latin typeface="Arial" panose="020B0604020202020204" pitchFamily="34" charset="0"/>
              </a:rPr>
              <a:t>: </a:t>
            </a:r>
            <a:r>
              <a:rPr kumimoji="0" lang="en-US" altLang="en-US" sz="1800" b="0" i="0" u="none" strike="noStrike" cap="none" normalizeH="0" baseline="0" dirty="0">
                <a:ln>
                  <a:noFill/>
                </a:ln>
                <a:solidFill>
                  <a:schemeClr val="tx1"/>
                </a:solidFill>
                <a:effectLst/>
                <a:latin typeface="Arial" panose="020B0604020202020204" pitchFamily="34" charset="0"/>
              </a:rPr>
              <a:t>Acts as the data ingestion gate; it takes your raw unstructured </a:t>
            </a:r>
            <a:r>
              <a:rPr kumimoji="0" lang="en-US" altLang="en-US" sz="1600" b="0" i="0" u="none" strike="noStrike" cap="none" normalizeH="0" baseline="0" dirty="0">
                <a:ln>
                  <a:noFill/>
                </a:ln>
                <a:solidFill>
                  <a:schemeClr val="tx1"/>
                </a:solidFill>
                <a:effectLst/>
              </a:rPr>
              <a:t>file and reads it</a:t>
            </a:r>
          </a:p>
          <a:p>
            <a:pPr marL="0" marR="0" lvl="0" indent="0" algn="l" defTabSz="914400" rtl="0" eaLnBrk="0" fontAlgn="base" latinLnBrk="0" hangingPunct="0">
              <a:lnSpc>
                <a:spcPct val="100000"/>
              </a:lnSpc>
              <a:spcBef>
                <a:spcPct val="0"/>
              </a:spcBef>
              <a:spcAft>
                <a:spcPct val="0"/>
              </a:spcAft>
              <a:buClrTx/>
              <a:buSzTx/>
              <a:tabLst/>
            </a:pPr>
            <a:r>
              <a:rPr kumimoji="0" lang="en-US" altLang="en-US" sz="1600" b="0" i="0" u="none" strike="noStrike" cap="none" normalizeH="0" baseline="0" dirty="0">
                <a:ln>
                  <a:noFill/>
                </a:ln>
                <a:solidFill>
                  <a:schemeClr val="tx1"/>
                </a:solidFill>
                <a:effectLst/>
              </a:rPr>
              <a:t>into the pipeline as an operational data</a:t>
            </a:r>
            <a:r>
              <a:rPr lang="en-US" altLang="en-US" sz="1600" dirty="0">
                <a:solidFill>
                  <a:schemeClr val="tx1"/>
                </a:solidFill>
              </a:rPr>
              <a:t> </a:t>
            </a:r>
            <a:r>
              <a:rPr kumimoji="0" lang="en-US" altLang="en-US" sz="1600" b="0" i="0" u="none" strike="noStrike" cap="none" normalizeH="0" baseline="0" dirty="0">
                <a:ln>
                  <a:noFill/>
                </a:ln>
                <a:solidFill>
                  <a:schemeClr val="tx1"/>
                </a:solidFill>
                <a:effectLst/>
              </a:rPr>
              <a:t>stream</a:t>
            </a:r>
            <a:r>
              <a:rPr kumimoji="0" lang="en-US" altLang="en-US" sz="900" b="0" i="0" u="none" strike="noStrike" cap="none" normalizeH="0" baseline="0" dirty="0">
                <a:ln>
                  <a:noFill/>
                </a:ln>
                <a:solidFill>
                  <a:schemeClr val="tx1"/>
                </a:solidFill>
                <a:effectLst/>
              </a:rPr>
              <a:t>.</a:t>
            </a: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Recursive Character Text Splitter Component</a:t>
            </a:r>
            <a:r>
              <a:rPr lang="en-US" altLang="en-US" sz="1800" dirty="0">
                <a:solidFill>
                  <a:schemeClr val="tx1"/>
                </a:solidFill>
                <a:latin typeface="Arial" panose="020B0604020202020204" pitchFamily="34" charset="0"/>
              </a:rPr>
              <a:t>: </a:t>
            </a:r>
            <a:r>
              <a:rPr kumimoji="0" lang="en-US" altLang="en-US" sz="1800" b="0" i="0" u="none" strike="noStrike" cap="none" normalizeH="0" baseline="0" dirty="0">
                <a:ln>
                  <a:noFill/>
                </a:ln>
                <a:solidFill>
                  <a:schemeClr val="tx1"/>
                </a:solidFill>
                <a:effectLst/>
                <a:latin typeface="Arial" panose="020B0604020202020204" pitchFamily="34" charset="0"/>
              </a:rPr>
              <a:t>Handles the intelligent semantic chunking by analyzing text</a:t>
            </a:r>
            <a:endParaRPr lang="en-US" altLang="en-US" sz="1800" dirty="0">
              <a:solidFill>
                <a:schemeClr val="tx1"/>
              </a:solidFill>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breaks (</a:t>
            </a:r>
            <a:r>
              <a:rPr kumimoji="0" lang="en-US" altLang="en-US" sz="1600" b="0" i="0" u="none" strike="noStrike" cap="none" normalizeH="0" baseline="0" dirty="0">
                <a:ln>
                  <a:noFill/>
                </a:ln>
                <a:solidFill>
                  <a:schemeClr val="tx1"/>
                </a:solidFill>
                <a:effectLst/>
                <a:latin typeface="Arial Unicode MS"/>
              </a:rPr>
              <a:t>\n\n</a:t>
            </a:r>
            <a:r>
              <a:rPr kumimoji="0" lang="en-US" altLang="en-US" sz="1200" b="0" i="0" u="none" strike="noStrike" cap="none" normalizeH="0" baseline="0" dirty="0">
                <a:ln>
                  <a:noFill/>
                </a:ln>
                <a:solidFill>
                  <a:schemeClr val="tx1"/>
                </a:solidFill>
                <a:effectLst/>
              </a:rPr>
              <a:t>, </a:t>
            </a:r>
            <a:r>
              <a:rPr kumimoji="0" lang="en-US" altLang="en-US" sz="1600" b="0" i="0" u="none" strike="noStrike" cap="none" normalizeH="0" baseline="0" dirty="0">
                <a:ln>
                  <a:noFill/>
                </a:ln>
                <a:solidFill>
                  <a:schemeClr val="tx1"/>
                </a:solidFill>
                <a:effectLst/>
                <a:latin typeface="Arial Unicode MS"/>
              </a:rPr>
              <a:t>\n</a:t>
            </a:r>
            <a:r>
              <a:rPr kumimoji="0" lang="en-US" altLang="en-US" sz="1200" b="0" i="0" u="none" strike="noStrike" cap="none" normalizeH="0" baseline="0" dirty="0">
                <a:ln>
                  <a:noFill/>
                </a:ln>
                <a:solidFill>
                  <a:schemeClr val="tx1"/>
                </a:solidFill>
                <a:effectLst/>
              </a:rPr>
              <a:t>). It is configured with a </a:t>
            </a:r>
            <a:r>
              <a:rPr kumimoji="0" lang="en-US" altLang="en-US" sz="1800" b="1" i="0" u="none" strike="noStrike" cap="none" normalizeH="0" baseline="0" dirty="0">
                <a:ln>
                  <a:noFill/>
                </a:ln>
                <a:solidFill>
                  <a:schemeClr val="tx1"/>
                </a:solidFill>
                <a:effectLst/>
                <a:latin typeface="Arial" panose="020B0604020202020204" pitchFamily="34" charset="0"/>
              </a:rPr>
              <a:t>Chunk Size of 1000</a:t>
            </a:r>
            <a:r>
              <a:rPr kumimoji="0" lang="en-US" altLang="en-US" sz="1800" b="0" i="0" u="none" strike="noStrike" cap="none" normalizeH="0" baseline="0" dirty="0">
                <a:ln>
                  <a:noFill/>
                </a:ln>
                <a:solidFill>
                  <a:schemeClr val="tx1"/>
                </a:solidFill>
                <a:effectLst/>
                <a:latin typeface="Arial" panose="020B0604020202020204" pitchFamily="34" charset="0"/>
              </a:rPr>
              <a:t> and a </a:t>
            </a:r>
            <a:r>
              <a:rPr kumimoji="0" lang="en-US" altLang="en-US" sz="1800" b="1" i="0" u="none" strike="noStrike" cap="none" normalizeH="0" baseline="0" dirty="0">
                <a:ln>
                  <a:noFill/>
                </a:ln>
                <a:solidFill>
                  <a:schemeClr val="tx1"/>
                </a:solidFill>
                <a:effectLst/>
                <a:latin typeface="Arial" panose="020B0604020202020204" pitchFamily="34" charset="0"/>
              </a:rPr>
              <a:t>Chunk Overlap of 200</a:t>
            </a:r>
            <a:r>
              <a:rPr kumimoji="0" lang="en-US" altLang="en-US" sz="1800" b="0" i="0" u="none" strike="noStrike" cap="none" normalizeH="0" baseline="0" dirty="0">
                <a:ln>
                  <a:noFill/>
                </a:ln>
                <a:solidFill>
                  <a:schemeClr val="tx1"/>
                </a:solidFill>
                <a:effectLst/>
                <a:latin typeface="Arial" panose="020B0604020202020204" pitchFamily="34" charset="0"/>
              </a:rPr>
              <a:t> to keep tables, lists, and fees</a:t>
            </a:r>
          </a:p>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safely bound together.</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IBM watsonx.ai Embeddings Component</a:t>
            </a:r>
            <a:r>
              <a:rPr lang="en-US" altLang="en-US" sz="1800" dirty="0">
                <a:solidFill>
                  <a:schemeClr val="tx1"/>
                </a:solidFill>
                <a:latin typeface="Arial" panose="020B0604020202020204" pitchFamily="34" charset="0"/>
              </a:rPr>
              <a:t>: </a:t>
            </a:r>
            <a:r>
              <a:rPr kumimoji="0" lang="en-US" altLang="en-US" sz="1800" b="0" i="0" u="none" strike="noStrike" cap="none" normalizeH="0" baseline="0" dirty="0">
                <a:ln>
                  <a:noFill/>
                </a:ln>
                <a:solidFill>
                  <a:schemeClr val="tx1"/>
                </a:solidFill>
                <a:effectLst/>
                <a:latin typeface="Arial" panose="020B0604020202020204" pitchFamily="34" charset="0"/>
              </a:rPr>
              <a:t>Translates human text chunks into dense mathematical vector arrays.</a:t>
            </a:r>
          </a:p>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It connects directly to the IBM ecosystem using the specialized </a:t>
            </a:r>
            <a:r>
              <a:rPr kumimoji="0" lang="en-US" altLang="en-US" sz="1600" b="1" i="0" u="none" strike="noStrike" cap="none" normalizeH="0" baseline="0" dirty="0" err="1">
                <a:ln>
                  <a:noFill/>
                </a:ln>
                <a:solidFill>
                  <a:schemeClr val="tx1"/>
                </a:solidFill>
                <a:effectLst/>
                <a:latin typeface="Arial Unicode MS"/>
              </a:rPr>
              <a:t>ibm</a:t>
            </a:r>
            <a:r>
              <a:rPr kumimoji="0" lang="en-US" altLang="en-US" sz="1600" b="1" i="0" u="none" strike="noStrike" cap="none" normalizeH="0" baseline="0" dirty="0">
                <a:ln>
                  <a:noFill/>
                </a:ln>
                <a:solidFill>
                  <a:schemeClr val="tx1"/>
                </a:solidFill>
                <a:effectLst/>
                <a:latin typeface="Arial Unicode MS"/>
              </a:rPr>
              <a:t>/slate-125m-english-rtrvr-v2</a:t>
            </a:r>
            <a:r>
              <a:rPr kumimoji="0" lang="en-US" altLang="en-US" sz="1200" b="0" i="0" u="none" strike="noStrike" cap="none" normalizeH="0" baseline="0" dirty="0">
                <a:ln>
                  <a:noFill/>
                </a:ln>
                <a:solidFill>
                  <a:schemeClr val="tx1"/>
                </a:solidFill>
                <a:effectLst/>
              </a:rPr>
              <a:t> retrieval model.</a:t>
            </a:r>
            <a:endParaRPr kumimoji="0" lang="en-US" altLang="en-US" sz="3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FAISS Vector Store (Ingestion &amp; Search) Component</a:t>
            </a:r>
            <a:r>
              <a:rPr lang="en-US" altLang="en-US" sz="1800" dirty="0">
                <a:solidFill>
                  <a:schemeClr val="tx1"/>
                </a:solidFill>
                <a:latin typeface="Arial" panose="020B0604020202020204" pitchFamily="34" charset="0"/>
              </a:rPr>
              <a:t>: </a:t>
            </a:r>
            <a:r>
              <a:rPr kumimoji="0" lang="en-US" altLang="en-US" sz="1800" b="0" i="0" u="none" strike="noStrike" cap="none" normalizeH="0" baseline="0" dirty="0">
                <a:ln>
                  <a:noFill/>
                </a:ln>
                <a:solidFill>
                  <a:schemeClr val="tx1"/>
                </a:solidFill>
                <a:effectLst/>
                <a:latin typeface="Arial" panose="020B0604020202020204" pitchFamily="34" charset="0"/>
              </a:rPr>
              <a:t>The centralized memory database of your bot. It</a:t>
            </a:r>
          </a:p>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indexes your text embeddings, allows local loading via the </a:t>
            </a:r>
            <a:r>
              <a:rPr kumimoji="0" lang="en-US" altLang="en-US" sz="1800" b="1" i="0" u="none" strike="noStrike" cap="none" normalizeH="0" baseline="0" dirty="0">
                <a:ln>
                  <a:noFill/>
                </a:ln>
                <a:solidFill>
                  <a:schemeClr val="tx1"/>
                </a:solidFill>
                <a:effectLst/>
                <a:latin typeface="Arial" panose="020B0604020202020204" pitchFamily="34" charset="0"/>
              </a:rPr>
              <a:t>Chat Input Component</a:t>
            </a:r>
          </a:p>
          <a:p>
            <a:pPr marL="0" marR="0" lvl="0" indent="0" algn="l" defTabSz="914400" rtl="0" eaLnBrk="0" fontAlgn="base" latinLnBrk="0" hangingPunct="0">
              <a:lnSpc>
                <a:spcPct val="100000"/>
              </a:lnSpc>
              <a:spcBef>
                <a:spcPct val="0"/>
              </a:spcBef>
              <a:spcAft>
                <a:spcPct val="0"/>
              </a:spcAft>
              <a:buClrTx/>
              <a:buSzTx/>
              <a:tabLst/>
            </a:pPr>
            <a:r>
              <a:rPr lang="en-US" altLang="en-US" sz="2000" dirty="0" err="1">
                <a:solidFill>
                  <a:schemeClr val="tx1"/>
                </a:solidFill>
                <a:latin typeface="Arial Unicode MS"/>
              </a:rPr>
              <a:t>allow_dangerous_deserialization</a:t>
            </a:r>
            <a:r>
              <a:rPr lang="en-US" altLang="en-US" sz="2000" dirty="0">
                <a:solidFill>
                  <a:schemeClr val="tx1"/>
                </a:solidFill>
                <a:latin typeface="Arial Unicode MS"/>
              </a:rPr>
              <a:t>: true</a:t>
            </a:r>
            <a:r>
              <a:rPr lang="en-US" altLang="en-US" sz="1600" dirty="0">
                <a:solidFill>
                  <a:schemeClr val="tx1"/>
                </a:solidFill>
              </a:rPr>
              <a:t> safety bypass, and executes high-speed vector searches.</a:t>
            </a:r>
            <a:endParaRPr lang="en-US" altLang="en-US" sz="4400" dirty="0">
              <a:solidFill>
                <a:schemeClr val="tx1"/>
              </a:solidFill>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The primary listener node that captures the student's live queries (like asking about cutoffs or hostel fees)</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from the Playground interface and passes them to the search database.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Parse Data Component</a:t>
            </a:r>
            <a:r>
              <a:rPr lang="en-US" altLang="en-US" sz="1800" dirty="0">
                <a:solidFill>
                  <a:schemeClr val="tx1"/>
                </a:solidFill>
                <a:latin typeface="Arial" panose="020B0604020202020204" pitchFamily="34" charset="0"/>
              </a:rPr>
              <a:t>: </a:t>
            </a:r>
            <a:r>
              <a:rPr kumimoji="0" lang="en-US" altLang="en-US" sz="1800" b="0" i="0" u="none" strike="noStrike" cap="none" normalizeH="0" baseline="0" dirty="0">
                <a:ln>
                  <a:noFill/>
                </a:ln>
                <a:solidFill>
                  <a:schemeClr val="tx1"/>
                </a:solidFill>
                <a:effectLst/>
                <a:latin typeface="Arial" panose="020B0604020202020204" pitchFamily="34" charset="0"/>
              </a:rPr>
              <a:t>Acts as the data bridge between your database and your prompt.</a:t>
            </a:r>
          </a:p>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It is explicitly set to </a:t>
            </a:r>
            <a:r>
              <a:rPr kumimoji="0" lang="en-US" altLang="en-US" sz="1600" b="1" i="0" u="none" strike="noStrike" cap="none" normalizeH="0" baseline="0" dirty="0">
                <a:ln>
                  <a:noFill/>
                </a:ln>
                <a:solidFill>
                  <a:schemeClr val="tx1"/>
                </a:solidFill>
                <a:effectLst/>
                <a:latin typeface="Arial Unicode MS"/>
              </a:rPr>
              <a:t>Stringify</a:t>
            </a:r>
            <a:r>
              <a:rPr kumimoji="0" lang="en-US" altLang="en-US" sz="1200" b="0" i="0" u="none" strike="noStrike" cap="none" normalizeH="0" baseline="0" dirty="0">
                <a:ln>
                  <a:noFill/>
                </a:ln>
                <a:solidFill>
                  <a:schemeClr val="tx1"/>
                </a:solidFill>
                <a:effectLst/>
              </a:rPr>
              <a:t> mode to flatten multiple abstract vector chunks from FAISS into a single, clean plain-text paragraph.</a:t>
            </a:r>
            <a:endParaRPr kumimoji="0" lang="en-US" altLang="en-US" sz="3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Prompt Template Component</a:t>
            </a:r>
            <a:r>
              <a:rPr lang="en-US" altLang="en-US" sz="1800" dirty="0">
                <a:solidFill>
                  <a:schemeClr val="tx1"/>
                </a:solidFill>
                <a:latin typeface="Arial" panose="020B0604020202020204" pitchFamily="34" charset="0"/>
              </a:rPr>
              <a:t>: </a:t>
            </a:r>
            <a:r>
              <a:rPr kumimoji="0" lang="en-US" altLang="en-US" sz="1800" b="0" i="0" u="none" strike="noStrike" cap="none" normalizeH="0" baseline="0" dirty="0">
                <a:ln>
                  <a:noFill/>
                </a:ln>
                <a:solidFill>
                  <a:schemeClr val="tx1"/>
                </a:solidFill>
                <a:effectLst/>
                <a:latin typeface="Arial" panose="020B0604020202020204" pitchFamily="34" charset="0"/>
              </a:rPr>
              <a:t>The engineering workspace where the system rules are defined. It takes the</a:t>
            </a:r>
          </a:p>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text from the Parser.</a:t>
            </a:r>
          </a:p>
          <a:p>
            <a:pPr marR="0" lvl="0" algn="l" defTabSz="914400" rtl="0" eaLnBrk="0" fontAlgn="base" latinLnBrk="0" hangingPunct="0">
              <a:lnSpc>
                <a:spcPct val="100000"/>
              </a:lnSpc>
              <a:spcBef>
                <a:spcPct val="0"/>
              </a:spcBef>
              <a:spcAft>
                <a:spcPct val="0"/>
              </a:spcAft>
              <a:buClrTx/>
              <a:buSzTx/>
              <a:tabLst/>
            </a:pPr>
            <a:r>
              <a:rPr kumimoji="0" lang="en-US" altLang="en-US" sz="1800" b="1" i="0" u="none" strike="noStrike" cap="none" normalizeH="0" baseline="0" dirty="0">
                <a:ln>
                  <a:noFill/>
                </a:ln>
                <a:solidFill>
                  <a:schemeClr val="tx1"/>
                </a:solidFill>
                <a:effectLst/>
                <a:latin typeface="Arial" panose="020B0604020202020204" pitchFamily="34" charset="0"/>
              </a:rPr>
              <a:t>IBM watsonx.ai (LLM) Component</a:t>
            </a:r>
            <a:r>
              <a:rPr lang="en-US" altLang="en-US" sz="1800" dirty="0">
                <a:solidFill>
                  <a:schemeClr val="tx1"/>
                </a:solidFill>
                <a:latin typeface="Arial" panose="020B0604020202020204" pitchFamily="34" charset="0"/>
              </a:rPr>
              <a:t>: </a:t>
            </a:r>
            <a:r>
              <a:rPr kumimoji="0" lang="en-US" altLang="en-US" sz="1800" b="0" i="0" u="none" strike="noStrike" cap="none" normalizeH="0" baseline="0" dirty="0">
                <a:ln>
                  <a:noFill/>
                </a:ln>
                <a:solidFill>
                  <a:schemeClr val="tx1"/>
                </a:solidFill>
                <a:effectLst/>
                <a:latin typeface="Arial" panose="020B0604020202020204" pitchFamily="34" charset="0"/>
              </a:rPr>
              <a:t>The ultimate decision-making and generation engine. It receives the</a:t>
            </a:r>
          </a:p>
          <a:p>
            <a:pPr marR="0" lvl="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complete payload from your Prompt Template, safely cross-references the verified guidelines,</a:t>
            </a:r>
          </a:p>
          <a:p>
            <a:pPr marR="0" lvl="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and generates the definitive text answer.</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Chat Output Component</a:t>
            </a:r>
            <a:r>
              <a:rPr lang="en-US" altLang="en-US" sz="1800" dirty="0">
                <a:solidFill>
                  <a:schemeClr val="tx1"/>
                </a:solidFill>
                <a:latin typeface="Arial" panose="020B0604020202020204" pitchFamily="34" charset="0"/>
              </a:rPr>
              <a:t>: </a:t>
            </a:r>
            <a:r>
              <a:rPr kumimoji="0" lang="en-US" altLang="en-US" sz="1800" b="0" i="0" u="none" strike="noStrike" cap="none" normalizeH="0" baseline="0" dirty="0">
                <a:ln>
                  <a:noFill/>
                </a:ln>
                <a:solidFill>
                  <a:schemeClr val="tx1"/>
                </a:solidFill>
                <a:effectLst/>
                <a:latin typeface="Arial" panose="020B0604020202020204" pitchFamily="34" charset="0"/>
              </a:rPr>
              <a:t>The final delivery node that securely pipes the structured, hallucination-free</a:t>
            </a:r>
          </a:p>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response from the IBM LLM back into the student's chat window.</a:t>
            </a:r>
          </a:p>
        </p:txBody>
      </p:sp>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component Used -</a:t>
            </a:r>
            <a:endParaRPr sz="24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1BF3590-52D3-DC9D-2C84-E66D9597D77D}"/>
              </a:ext>
            </a:extLst>
          </p:cNvPr>
          <p:cNvPicPr>
            <a:picLocks noChangeAspect="1"/>
          </p:cNvPicPr>
          <p:nvPr/>
        </p:nvPicPr>
        <p:blipFill>
          <a:blip r:embed="rId3"/>
          <a:srcRect/>
          <a:stretch/>
        </p:blipFill>
        <p:spPr>
          <a:xfrm>
            <a:off x="1079776" y="1066220"/>
            <a:ext cx="10238981" cy="5544892"/>
          </a:xfrm>
          <a:prstGeom prst="rect">
            <a:avLst/>
          </a:prstGeom>
        </p:spPr>
      </p:pic>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workflow -</a:t>
            </a:r>
            <a:endParaRPr sz="2400" b="1" dirty="0">
              <a:sym typeface="Times New Roman"/>
            </a:endParaRPr>
          </a:p>
        </p:txBody>
      </p:sp>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pic>
        <p:nvPicPr>
          <p:cNvPr id="178" name="Google Shape;178;p7"/>
          <p:cNvPicPr preferRelativeResize="0"/>
          <p:nvPr/>
        </p:nvPicPr>
        <p:blipFill>
          <a:blip r:embed="rId3"/>
          <a:srcRect t="12668" b="2664"/>
          <a:stretch>
            <a:fillRect/>
          </a:stretch>
        </p:blipFill>
        <p:spPr>
          <a:xfrm>
            <a:off x="933055" y="995424"/>
            <a:ext cx="10386985" cy="5539338"/>
          </a:xfrm>
          <a:prstGeom prst="rect">
            <a:avLst/>
          </a:prstGeom>
          <a:noFill/>
          <a:ln>
            <a:noFill/>
          </a:ln>
        </p:spPr>
      </p:pic>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dirty="0">
                <a:solidFill>
                  <a:schemeClr val="dk1"/>
                </a:solidFill>
                <a:latin typeface="Calibri"/>
                <a:ea typeface="Calibri"/>
                <a:cs typeface="Calibri"/>
                <a:sym typeface="Calibri"/>
              </a:rPr>
              <a:t>Architecture blueprint</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5078313"/>
          </a:xfrm>
          <a:prstGeom prst="rect">
            <a:avLst/>
          </a:prstGeom>
          <a:noFill/>
        </p:spPr>
        <p:txBody>
          <a:bodyPr wrap="square" rtlCol="0">
            <a:spAutoFit/>
          </a:bodyPr>
          <a:lstStyle/>
          <a:p>
            <a:r>
              <a:rPr lang="en-US" sz="1600" dirty="0"/>
              <a:t>Unlike generic chat assistants that offer speculative answers based on broad internet data, this solution introduces an elite level of predictability by enforcing strict factual grounding. The novelty lies in building a zero-trust, closed-loop retrieval environment where the underlying LLM is prohibited from generating responses outside the provided context matrix. By structurally embedding institutional logic—such as exact cutoff metrics and tiered fee structures—directly into a local vector pipeline, we eliminate the core flaw of traditional conversational interfaces: AI hallucinations. This ensures that every generated output acts as a true, legally compliant reflection of official institutional policy.</a:t>
            </a:r>
          </a:p>
          <a:p>
            <a:endParaRPr lang="en-US" sz="1800" b="1" dirty="0"/>
          </a:p>
          <a:p>
            <a:r>
              <a:rPr lang="en-US" sz="1800" b="1" dirty="0"/>
              <a:t>📌 What Makes This Solution Unique</a:t>
            </a:r>
          </a:p>
          <a:p>
            <a:r>
              <a:rPr lang="en-US" sz="1600" b="1" dirty="0"/>
              <a:t>Context-Enforced Guardrails: </a:t>
            </a:r>
            <a:r>
              <a:rPr lang="en-US" sz="1600" dirty="0"/>
              <a:t>Integrates custom prompt constraints that actively strip away the model's tendency to guess, forcing it to politely decline to answer if a specific data point is missing from the underlying document.</a:t>
            </a:r>
          </a:p>
          <a:p>
            <a:endParaRPr lang="en-US" sz="1600" dirty="0"/>
          </a:p>
          <a:p>
            <a:r>
              <a:rPr lang="en-US" sz="1600" b="1" dirty="0"/>
              <a:t>Granite-Slate Pipeline Integration: </a:t>
            </a:r>
            <a:r>
              <a:rPr lang="en-US" sz="1600" dirty="0"/>
              <a:t>Maximizes mathematical retrieval accuracy by utilizing enterprise-grade </a:t>
            </a:r>
            <a:r>
              <a:rPr lang="en-US" sz="1600" dirty="0" err="1"/>
              <a:t>ibm</a:t>
            </a:r>
            <a:r>
              <a:rPr lang="en-US" sz="1600" dirty="0"/>
              <a:t>/slate-125m-english-rtrvr-v2 models, making the system highly specialized for reading complex, tabular government college data streams.</a:t>
            </a:r>
          </a:p>
          <a:p>
            <a:endParaRPr lang="en-US" sz="1600" b="1" dirty="0"/>
          </a:p>
          <a:p>
            <a:r>
              <a:rPr lang="en-US" sz="1600" b="1" dirty="0"/>
              <a:t>Isolated Vector Parsing: </a:t>
            </a:r>
            <a:r>
              <a:rPr lang="en-US" sz="1600" dirty="0"/>
              <a:t>Employs an explicit </a:t>
            </a:r>
            <a:r>
              <a:rPr lang="en-US" sz="1600" dirty="0" err="1"/>
              <a:t>stringification</a:t>
            </a:r>
            <a:r>
              <a:rPr lang="en-US" sz="1600" dirty="0"/>
              <a:t> parser block that flattens multi-layered semantic array chunks into single context payloads, avoiding the disjointed memory issues common in open-source chat setups.</a:t>
            </a:r>
          </a:p>
          <a:p>
            <a:endParaRPr lang="en-US" sz="1600" dirty="0"/>
          </a:p>
          <a:p>
            <a:r>
              <a:rPr lang="en-US" sz="1600" b="1" dirty="0"/>
              <a:t>Sanitized Infrastructure-as-Code: </a:t>
            </a:r>
            <a:r>
              <a:rPr lang="en-US" sz="1600" dirty="0"/>
              <a:t>Delivers an entirely exportable workspace structure that completely hides developer billing credentials, offering an open-source template that evaluators can safely audit, clone, and deploy instantly.</a:t>
            </a:r>
            <a:endParaRPr lang="en-IN" sz="1200" dirty="0"/>
          </a:p>
        </p:txBody>
      </p:sp>
    </p:spTree>
    <p:extLst>
      <p:ext uri="{BB962C8B-B14F-4D97-AF65-F5344CB8AC3E}">
        <p14:creationId xmlns:p14="http://schemas.microsoft.com/office/powerpoint/2010/main" val="9179641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Git Hub Link</a:t>
            </a:r>
            <a:endParaRPr sz="2400" b="1" dirty="0">
              <a:sym typeface="Times New Roman"/>
            </a:endParaRPr>
          </a:p>
        </p:txBody>
      </p:sp>
      <p:sp>
        <p:nvSpPr>
          <p:cNvPr id="279" name="Google Shape;279;p18">
            <a:extLst>
              <a:ext uri="{FF2B5EF4-FFF2-40B4-BE49-F238E27FC236}">
                <a16:creationId xmlns:a16="http://schemas.microsoft.com/office/drawing/2014/main" id="{15507A2F-9304-7475-5C74-2BAA93879CFE}"/>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 Please create public </a:t>
            </a:r>
            <a:r>
              <a:rPr lang="en-US" sz="1850" b="0" i="0" u="none" strike="noStrike" cap="none" dirty="0" err="1">
                <a:solidFill>
                  <a:srgbClr val="2B3541"/>
                </a:solidFill>
                <a:latin typeface="Times New Roman"/>
                <a:ea typeface="Times New Roman"/>
                <a:cs typeface="Times New Roman"/>
                <a:sym typeface="Times New Roman"/>
              </a:rPr>
              <a:t>github</a:t>
            </a:r>
            <a:r>
              <a:rPr lang="en-US" sz="185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p>
          <a:p>
            <a:pPr lvl="0">
              <a:lnSpc>
                <a:spcPct val="162162"/>
              </a:lnSpc>
              <a:buClr>
                <a:srgbClr val="2B3541"/>
              </a:buClr>
              <a:buSzPts val="1850"/>
            </a:pPr>
            <a:r>
              <a:rPr lang="en-US" sz="1850" dirty="0">
                <a:solidFill>
                  <a:srgbClr val="2B3541"/>
                </a:solidFill>
                <a:latin typeface="Times New Roman"/>
                <a:ea typeface="Times New Roman"/>
                <a:cs typeface="Times New Roman"/>
                <a:sym typeface="Times New Roman"/>
              </a:rPr>
              <a:t>Please test and Paste the working  </a:t>
            </a: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URL – </a:t>
            </a:r>
            <a:r>
              <a:rPr lang="en-US" sz="1850" dirty="0" err="1">
                <a:solidFill>
                  <a:srgbClr val="2B3541"/>
                </a:solidFill>
                <a:latin typeface="Times New Roman"/>
                <a:ea typeface="Times New Roman"/>
                <a:cs typeface="Times New Roman"/>
                <a:sym typeface="Times New Roman"/>
                <a:hlinkClick r:id="rId3"/>
              </a:rPr>
              <a:t>Github_Repo_For_This_Project</a:t>
            </a:r>
            <a:br>
              <a:rPr lang="en-US" sz="1850" dirty="0">
                <a:solidFill>
                  <a:srgbClr val="2B3541"/>
                </a:solidFill>
                <a:latin typeface="Times New Roman"/>
                <a:ea typeface="Times New Roman"/>
                <a:cs typeface="Times New Roman"/>
                <a:sym typeface="Times New Roman"/>
              </a:rPr>
            </a:br>
            <a:r>
              <a:rPr lang="en-US" sz="1850" dirty="0">
                <a:solidFill>
                  <a:srgbClr val="2B3541"/>
                </a:solidFill>
                <a:latin typeface="Times New Roman"/>
                <a:ea typeface="Times New Roman"/>
                <a:cs typeface="Times New Roman"/>
                <a:sym typeface="Times New Roman"/>
                <a:hlinkClick r:id="rId3"/>
              </a:rPr>
              <a:t>https://github.com/CoderforLife-AK/College_Admission_RAG_Bot.git</a:t>
            </a:r>
            <a:endParaRPr lang="en-US" sz="1850" dirty="0">
              <a:solidFill>
                <a:srgbClr val="2B3541"/>
              </a:solidFill>
              <a:latin typeface="Times New Roman"/>
              <a:ea typeface="Times New Roman"/>
              <a:cs typeface="Times New Roman"/>
              <a:sym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154848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1850" b="1" dirty="0">
                <a:solidFill>
                  <a:srgbClr val="2B3541"/>
                </a:solidFill>
                <a:latin typeface="Times New Roman"/>
                <a:ea typeface="Times New Roman"/>
                <a:cs typeface="Times New Roman"/>
                <a:sym typeface="Times New Roman"/>
              </a:rPr>
              <a:t>Transition to an Autonomous Agentic Framework: </a:t>
            </a:r>
            <a:r>
              <a:rPr lang="en-US" sz="1850" dirty="0">
                <a:solidFill>
                  <a:srgbClr val="2B3541"/>
                </a:solidFill>
                <a:latin typeface="Times New Roman"/>
                <a:ea typeface="Times New Roman"/>
                <a:cs typeface="Times New Roman"/>
                <a:sym typeface="Times New Roman"/>
              </a:rPr>
              <a:t>Upgrade the linear RAG pipeline into an Agentic AI system capable of multi-step reasoning, enabling the bot to dynamically select tools, validate inputs, and process complex mathematical eligibility calculations on its own.</a:t>
            </a:r>
          </a:p>
          <a:p>
            <a:pPr lvl="0">
              <a:lnSpc>
                <a:spcPct val="162162"/>
              </a:lnSpc>
              <a:buClr>
                <a:srgbClr val="2B3541"/>
              </a:buClr>
              <a:buSzPts val="1850"/>
            </a:pPr>
            <a:endParaRPr lang="en-US" sz="1850" dirty="0">
              <a:solidFill>
                <a:srgbClr val="2B3541"/>
              </a:solidFill>
              <a:latin typeface="Times New Roman"/>
              <a:ea typeface="Times New Roman"/>
              <a:cs typeface="Times New Roman"/>
              <a:sym typeface="Times New Roman"/>
            </a:endParaRPr>
          </a:p>
          <a:p>
            <a:pPr lvl="0">
              <a:lnSpc>
                <a:spcPct val="162162"/>
              </a:lnSpc>
              <a:buClr>
                <a:srgbClr val="2B3541"/>
              </a:buClr>
              <a:buSzPts val="1850"/>
            </a:pPr>
            <a:r>
              <a:rPr lang="en-US" sz="1850" b="1" dirty="0">
                <a:solidFill>
                  <a:srgbClr val="2B3541"/>
                </a:solidFill>
                <a:latin typeface="Times New Roman"/>
                <a:ea typeface="Times New Roman"/>
                <a:cs typeface="Times New Roman"/>
                <a:sym typeface="Times New Roman"/>
              </a:rPr>
              <a:t>Live API &amp; Database Integration: </a:t>
            </a:r>
            <a:r>
              <a:rPr lang="en-US" sz="1850" dirty="0">
                <a:solidFill>
                  <a:srgbClr val="2B3541"/>
                </a:solidFill>
                <a:latin typeface="Times New Roman"/>
                <a:ea typeface="Times New Roman"/>
                <a:cs typeface="Times New Roman"/>
                <a:sym typeface="Times New Roman"/>
              </a:rPr>
              <a:t>Replace the static text-based knowledge source with live API connections to official state admission portals or institutional ERP databases, ensuring real-time retrieval of dynamic branch cutoffs, merit ranks, and seat vacancies.</a:t>
            </a:r>
          </a:p>
          <a:p>
            <a:pPr lvl="0">
              <a:lnSpc>
                <a:spcPct val="162162"/>
              </a:lnSpc>
              <a:buClr>
                <a:srgbClr val="2B3541"/>
              </a:buClr>
              <a:buSzPts val="1850"/>
            </a:pPr>
            <a:endParaRPr lang="en-US" sz="1850" dirty="0">
              <a:solidFill>
                <a:srgbClr val="2B3541"/>
              </a:solidFill>
              <a:latin typeface="Times New Roman"/>
              <a:ea typeface="Times New Roman"/>
              <a:cs typeface="Times New Roman"/>
              <a:sym typeface="Times New Roman"/>
            </a:endParaRPr>
          </a:p>
          <a:p>
            <a:pPr lvl="0">
              <a:lnSpc>
                <a:spcPct val="162162"/>
              </a:lnSpc>
              <a:buClr>
                <a:srgbClr val="2B3541"/>
              </a:buClr>
              <a:buSzPts val="1850"/>
            </a:pPr>
            <a:r>
              <a:rPr lang="en-US" sz="1850" b="1" dirty="0">
                <a:solidFill>
                  <a:srgbClr val="2B3541"/>
                </a:solidFill>
                <a:latin typeface="Times New Roman"/>
                <a:ea typeface="Times New Roman"/>
                <a:cs typeface="Times New Roman"/>
                <a:sym typeface="Times New Roman"/>
              </a:rPr>
              <a:t>OCR-Driven Document Verification</a:t>
            </a:r>
            <a:r>
              <a:rPr lang="en-US" sz="1850" dirty="0">
                <a:solidFill>
                  <a:srgbClr val="2B3541"/>
                </a:solidFill>
                <a:latin typeface="Times New Roman"/>
                <a:ea typeface="Times New Roman"/>
                <a:cs typeface="Times New Roman"/>
                <a:sym typeface="Times New Roman"/>
              </a:rPr>
              <a:t>: Integrate Optical Character Recognition (OCR) components into the intake stream, allowing applicants to upload certificates or transcripts that the AI can instantly analyze, cross-reference, and audit against the 12 mandatory admission checklists.</a:t>
            </a:r>
            <a:endParaRPr sz="185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1229</TotalTime>
  <Words>1562</Words>
  <Application>Microsoft Office PowerPoint</Application>
  <PresentationFormat>Widescreen</PresentationFormat>
  <Paragraphs>121</Paragraphs>
  <Slides>12</Slides>
  <Notes>11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Arial Unicode MS</vt:lpstr>
      <vt:lpstr>Calibri</vt:lpstr>
      <vt:lpstr>Google Sans</vt:lpstr>
      <vt:lpstr>Google Sans Text</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Amit Kumar</cp:lastModifiedBy>
  <cp:revision>27</cp:revision>
  <dcterms:created xsi:type="dcterms:W3CDTF">2025-07-08T05:06:56Z</dcterms:created>
  <dcterms:modified xsi:type="dcterms:W3CDTF">2026-06-05T13:38:28Z</dcterms:modified>
</cp:coreProperties>
</file>