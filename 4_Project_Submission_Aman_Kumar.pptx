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5" r:id="rId6"/>
    <p:sldId id="281" r:id="rId7"/>
    <p:sldId id="279" r:id="rId8"/>
    <p:sldId id="262" r:id="rId9"/>
    <p:sldId id="287"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CoderforLife-AK/College_Admission_RAG_Bot.gi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594534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400" dirty="0"/>
                        <a:t>Aman </a:t>
                      </a:r>
                      <a:r>
                        <a:rPr lang="en-US" sz="2400" dirty="0" err="1"/>
                        <a:t>kumar</a:t>
                      </a:r>
                      <a:endParaRPr sz="2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nothingusual04@gmail.com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400" dirty="0"/>
                        <a:t>9135132774</a:t>
                      </a:r>
                      <a:endParaRPr sz="2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srcRect/>
          <a:stretch/>
        </p:blipFill>
        <p:spPr>
          <a:xfrm>
            <a:off x="4085562" y="3738417"/>
            <a:ext cx="697424"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dirty="0">
                <a:highlight>
                  <a:srgbClr val="FFFF00"/>
                </a:highlight>
              </a:rPr>
              <a:t>College Admission Agent ( RAG Based ) </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323987"/>
          </a:xfrm>
          <a:prstGeom prst="rect">
            <a:avLst/>
          </a:prstGeom>
          <a:noFill/>
        </p:spPr>
        <p:txBody>
          <a:bodyPr wrap="square" rtlCol="0">
            <a:spAutoFit/>
          </a:bodyPr>
          <a:lstStyle/>
          <a:p>
            <a:pPr fontAlgn="base"/>
            <a:r>
              <a:rPr lang="en-US" b="1" dirty="0"/>
              <a:t>Problem Statement : </a:t>
            </a:r>
            <a:r>
              <a:rPr lang="en-US" dirty="0"/>
              <a:t>College Admission Agent </a:t>
            </a:r>
            <a:endParaRPr lang="en-US" b="1" dirty="0"/>
          </a:p>
          <a:p>
            <a:pPr fontAlgn="base"/>
            <a:r>
              <a:rPr lang="en-US" b="1" dirty="0"/>
              <a:t>The Challenge</a:t>
            </a:r>
            <a:r>
              <a:rPr lang="en-US" dirty="0"/>
              <a:t> </a:t>
            </a:r>
          </a:p>
          <a:p>
            <a:pPr fontAlgn="base"/>
            <a:r>
              <a:rPr lang="en-US" dirty="0"/>
              <a:t>During peak intake cycles, administrative support networks face a massive influx of repetitive operational inquiries from students and parents, creating severe friction. Critical data like eligibility percentages and Tuition Fee Waiver (TFW) </a:t>
            </a:r>
            <a:r>
              <a:rPr lang="en-US" dirty="0" err="1"/>
              <a:t>rulesare</a:t>
            </a:r>
            <a:r>
              <a:rPr lang="en-US" dirty="0"/>
              <a:t> buried deep inside lengthy, dense PDF policy files that applicants struggle to navigate. Standard AI chatbots fail to solve this because they rely purely on raw foundational knowledge; when asked specific local questions, they hallucinate false fees, wrong dates. This leaves institutional helpdesks completely overwhelmed with redundant manual queries, creating massive processing queues and critical support delays during strict verification deadlines.</a:t>
            </a:r>
          </a:p>
          <a:p>
            <a:pPr fontAlgn="base"/>
            <a:r>
              <a:rPr lang="en-US" b="1" dirty="0"/>
              <a:t>The Objective</a:t>
            </a:r>
            <a:r>
              <a:rPr lang="en-US" dirty="0"/>
              <a:t> </a:t>
            </a:r>
          </a:p>
          <a:p>
            <a:pPr fontAlgn="base"/>
            <a:r>
              <a:rPr lang="en-US" dirty="0"/>
              <a:t>The primary objective of this project is to deploy an automated, reliable, and intelligent helpdesk solution that streamlines the chaotic government college admissions process for students and administrators. Core Project Goals:-</a:t>
            </a:r>
          </a:p>
          <a:p>
            <a:pPr fontAlgn="base"/>
            <a:endParaRPr lang="en-US" dirty="0"/>
          </a:p>
          <a:p>
            <a:pPr fontAlgn="base"/>
            <a:r>
              <a:rPr lang="en-US" dirty="0"/>
              <a:t> </a:t>
            </a:r>
          </a:p>
          <a:p>
            <a:pPr fontAlgn="base"/>
            <a:endParaRPr lang="en-US" dirty="0"/>
          </a:p>
          <a:p>
            <a:endParaRPr lang="en-IN" dirty="0"/>
          </a:p>
        </p:txBody>
      </p:sp>
      <p:sp>
        <p:nvSpPr>
          <p:cNvPr id="8" name="Rectangle 5">
            <a:extLst>
              <a:ext uri="{FF2B5EF4-FFF2-40B4-BE49-F238E27FC236}">
                <a16:creationId xmlns:a16="http://schemas.microsoft.com/office/drawing/2014/main" id="{524195C6-9544-45CB-A995-8ACD55B09718}"/>
              </a:ext>
            </a:extLst>
          </p:cNvPr>
          <p:cNvSpPr>
            <a:spLocks noChangeArrowheads="1"/>
          </p:cNvSpPr>
          <p:nvPr/>
        </p:nvSpPr>
        <p:spPr bwMode="auto">
          <a:xfrm>
            <a:off x="576072" y="3584190"/>
            <a:ext cx="1252647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Automate High-Volume Inquiries:</a:t>
            </a:r>
            <a:r>
              <a:rPr kumimoji="0" lang="en-US" altLang="en-US" b="0" i="0" u="none" strike="noStrike" cap="none" normalizeH="0" baseline="0" dirty="0">
                <a:ln>
                  <a:noFill/>
                </a:ln>
                <a:solidFill>
                  <a:schemeClr val="tx1"/>
                </a:solidFill>
                <a:effectLst/>
                <a:latin typeface="Arial" panose="020B0604020202020204" pitchFamily="34" charset="0"/>
              </a:rPr>
              <a:t> Provide instantaneous, round-the-clock support to students and parents regarding complex eligibility rules,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branch cutoffs, and uniform fee structures.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Eliminate AI Hallucinations:</a:t>
            </a:r>
            <a:r>
              <a:rPr kumimoji="0" lang="en-US" altLang="en-US" b="0" i="0" u="none" strike="noStrike" cap="none" normalizeH="0" baseline="0" dirty="0">
                <a:ln>
                  <a:noFill/>
                </a:ln>
                <a:solidFill>
                  <a:schemeClr val="tx1"/>
                </a:solidFill>
                <a:effectLst/>
                <a:latin typeface="Arial" panose="020B0604020202020204" pitchFamily="34" charset="0"/>
              </a:rPr>
              <a:t> Use a rigid Retrieval-Augmented Generation (RAG) architecture to ensure the chatbot only provides answers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directly verified by the uploaded institutional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Streamline Document Compliance:</a:t>
            </a:r>
            <a:r>
              <a:rPr kumimoji="0" lang="en-US" altLang="en-US" b="0" i="0" u="none" strike="noStrike" cap="none" normalizeH="0" baseline="0" dirty="0">
                <a:ln>
                  <a:noFill/>
                </a:ln>
                <a:solidFill>
                  <a:schemeClr val="tx1"/>
                </a:solidFill>
                <a:effectLst/>
                <a:latin typeface="Arial" panose="020B0604020202020204" pitchFamily="34" charset="0"/>
              </a:rPr>
              <a:t> Simplify the verification cycle by giving clear, step-by-step guidance on the 12 mandatory admission</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documents, residential certificates, and gap-year affidavits.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Maximize Portability and Security:</a:t>
            </a:r>
            <a:r>
              <a:rPr kumimoji="0" lang="en-US" altLang="en-US" b="0" i="0" u="none" strike="noStrike" cap="none" normalizeH="0" baseline="0" dirty="0">
                <a:ln>
                  <a:noFill/>
                </a:ln>
                <a:solidFill>
                  <a:schemeClr val="tx1"/>
                </a:solidFill>
                <a:effectLst/>
                <a:latin typeface="Arial" panose="020B0604020202020204" pitchFamily="34" charset="0"/>
              </a:rPr>
              <a:t> Deliver an infrastructure-as-code blueprint that completely scrubs developer billing credentials, making the</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pipeline safe to share and instantly deployable for any evaluator.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Leverage the IBM Ecosystem:</a:t>
            </a:r>
            <a:r>
              <a:rPr kumimoji="0" lang="en-US" altLang="en-US" b="0" i="0" u="none" strike="noStrike" cap="none" normalizeH="0" baseline="0" dirty="0">
                <a:ln>
                  <a:noFill/>
                </a:ln>
                <a:solidFill>
                  <a:schemeClr val="tx1"/>
                </a:solidFill>
                <a:effectLst/>
                <a:latin typeface="Arial" panose="020B0604020202020204" pitchFamily="34" charset="0"/>
              </a:rPr>
              <a:t> Optimize data retrieval and inference execution by utilizing high-performance IBM Slate embeddings and IBM</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watsonx.ai language models via </a:t>
            </a:r>
            <a:r>
              <a:rPr kumimoji="0" lang="en-US" altLang="en-US" b="0" i="0" u="none" strike="noStrike" cap="none" normalizeH="0" baseline="0" dirty="0" err="1">
                <a:ln>
                  <a:noFill/>
                </a:ln>
                <a:solidFill>
                  <a:schemeClr val="tx1"/>
                </a:solidFill>
                <a:effectLst/>
                <a:latin typeface="Arial" panose="020B0604020202020204" pitchFamily="34" charset="0"/>
              </a:rPr>
              <a:t>Langflow</a:t>
            </a: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7277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031325"/>
          </a:xfrm>
          <a:prstGeom prst="rect">
            <a:avLst/>
          </a:prstGeom>
          <a:noFill/>
        </p:spPr>
        <p:txBody>
          <a:bodyPr wrap="square" rtlCol="0">
            <a:spAutoFit/>
          </a:bodyPr>
          <a:lstStyle/>
          <a:p>
            <a:pPr fontAlgn="base"/>
            <a:endParaRPr lang="en-US" b="1" dirty="0"/>
          </a:p>
          <a:p>
            <a:pPr fontAlgn="base"/>
            <a:r>
              <a:rPr lang="en-IN" b="1" dirty="0"/>
              <a:t>Tech Stack </a:t>
            </a:r>
            <a:r>
              <a:rPr lang="en-IN" dirty="0"/>
              <a:t> </a:t>
            </a:r>
          </a:p>
          <a:p>
            <a:pPr fontAlgn="base"/>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4" name="Rectangle 1">
            <a:extLst>
              <a:ext uri="{FF2B5EF4-FFF2-40B4-BE49-F238E27FC236}">
                <a16:creationId xmlns:a16="http://schemas.microsoft.com/office/drawing/2014/main" id="{9AC2566E-F5ED-DA30-F6A7-6EC453D6DA80}"/>
              </a:ext>
            </a:extLst>
          </p:cNvPr>
          <p:cNvSpPr>
            <a:spLocks noChangeArrowheads="1"/>
          </p:cNvSpPr>
          <p:nvPr/>
        </p:nvSpPr>
        <p:spPr bwMode="auto">
          <a:xfrm>
            <a:off x="576072" y="2181415"/>
            <a:ext cx="10043134"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Google Sans Text"/>
              </a:rPr>
              <a:t>Langflow</a:t>
            </a:r>
            <a:r>
              <a:rPr kumimoji="0" lang="en-US" altLang="en-US" sz="1600" b="1" i="0" u="none" strike="noStrike" cap="none" normalizeH="0" baseline="0" dirty="0">
                <a:ln>
                  <a:noFill/>
                </a:ln>
                <a:solidFill>
                  <a:schemeClr val="tx1"/>
                </a:solidFill>
                <a:effectLst/>
                <a:latin typeface="Google Sans Text"/>
              </a:rPr>
              <a:t>:</a:t>
            </a:r>
            <a:r>
              <a:rPr kumimoji="0" lang="en-US" altLang="en-US" sz="1600" b="0" i="0" u="none" strike="noStrike" cap="none" normalizeH="0" baseline="0" dirty="0">
                <a:ln>
                  <a:noFill/>
                </a:ln>
                <a:solidFill>
                  <a:schemeClr val="tx1"/>
                </a:solidFill>
                <a:effectLst/>
                <a:latin typeface="Google Sans Text"/>
              </a:rPr>
              <a:t> Used as the low-code, visual development orchestration environment to build, manage, and seamlessly</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 connect the individual nodes of the RAG pipeline.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IBM watsonx.ai (LLM Engine):</a:t>
            </a:r>
            <a:r>
              <a:rPr kumimoji="0" lang="en-US" altLang="en-US" sz="1600" b="0" i="0" u="none" strike="noStrike" cap="none" normalizeH="0" baseline="0" dirty="0">
                <a:ln>
                  <a:noFill/>
                </a:ln>
                <a:solidFill>
                  <a:schemeClr val="tx1"/>
                </a:solidFill>
                <a:effectLst/>
                <a:latin typeface="Google Sans Text"/>
              </a:rPr>
              <a:t> Utilized as the primary enterprise-grade Large Language Model inference engine to</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 process final prompt payloads and generate deterministic, context-grounded answers.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IBM Slate (</a:t>
            </a:r>
            <a:r>
              <a:rPr kumimoji="0" lang="en-US" altLang="en-US" sz="1100" b="1" i="0" u="none" strike="noStrike" cap="none" normalizeH="0" baseline="0" dirty="0" err="1">
                <a:ln>
                  <a:noFill/>
                </a:ln>
                <a:solidFill>
                  <a:schemeClr val="tx1"/>
                </a:solidFill>
                <a:effectLst/>
                <a:latin typeface="Google Sans Text"/>
              </a:rPr>
              <a:t>ibm</a:t>
            </a:r>
            <a:r>
              <a:rPr kumimoji="0" lang="en-US" altLang="en-US" sz="1100" b="1" i="0" u="none" strike="noStrike" cap="none" normalizeH="0" baseline="0" dirty="0">
                <a:ln>
                  <a:noFill/>
                </a:ln>
                <a:solidFill>
                  <a:schemeClr val="tx1"/>
                </a:solidFill>
                <a:effectLst/>
                <a:latin typeface="Google Sans Text"/>
              </a:rPr>
              <a:t>/slate-125m-english-rtrvr-v2)</a:t>
            </a:r>
            <a:r>
              <a:rPr kumimoji="0" lang="en-US" altLang="en-US" sz="700" b="1" i="0" u="none" strike="noStrike" cap="none" normalizeH="0" baseline="0" dirty="0">
                <a:ln>
                  <a:noFill/>
                </a:ln>
                <a:solidFill>
                  <a:schemeClr val="tx1"/>
                </a:solidFill>
                <a:effectLst/>
                <a:latin typeface="Google Sans Text"/>
              </a:rPr>
              <a:t>:</a:t>
            </a:r>
            <a:r>
              <a:rPr kumimoji="0" lang="en-US" altLang="en-US" sz="1600" b="0" i="0" u="none" strike="noStrike" cap="none" normalizeH="0" baseline="0" dirty="0">
                <a:ln>
                  <a:noFill/>
                </a:ln>
                <a:solidFill>
                  <a:schemeClr val="tx1"/>
                </a:solidFill>
                <a:effectLst/>
                <a:latin typeface="Google Sans Text"/>
              </a:rPr>
              <a:t> Deployed as the underlying high-performance model family from the </a:t>
            </a:r>
            <a:r>
              <a:rPr kumimoji="0" lang="en-US" altLang="en-US" sz="1600" b="1" i="0" u="none" strike="noStrike" cap="none" normalizeH="0" baseline="0" dirty="0">
                <a:ln>
                  <a:noFill/>
                </a:ln>
                <a:solidFill>
                  <a:schemeClr val="tx1"/>
                </a:solidFill>
                <a:effectLst/>
                <a:latin typeface="Google Sans Text"/>
              </a:rPr>
              <a:t>IBM Granite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 umbrella to generate dense mathematical text vector embeddings.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FAISS (Facebook AI Similarity Search):</a:t>
            </a:r>
            <a:r>
              <a:rPr kumimoji="0" lang="en-US" altLang="en-US" sz="1600" b="0" i="0" u="none" strike="noStrike" cap="none" normalizeH="0" baseline="0" dirty="0">
                <a:ln>
                  <a:noFill/>
                </a:ln>
                <a:solidFill>
                  <a:schemeClr val="tx1"/>
                </a:solidFill>
                <a:effectLst/>
                <a:latin typeface="Google Sans Text"/>
              </a:rPr>
              <a:t> Implemented as the local vector storage database to host the compressed</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 document index matrix and execute high-speed cosine similarity searches.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Python Text Processing Nodes:</a:t>
            </a:r>
            <a:r>
              <a:rPr kumimoji="0" lang="en-US" altLang="en-US" sz="1600" b="0" i="0" u="none" strike="noStrike" cap="none" normalizeH="0" baseline="0" dirty="0">
                <a:ln>
                  <a:noFill/>
                </a:ln>
                <a:solidFill>
                  <a:schemeClr val="tx1"/>
                </a:solidFill>
                <a:effectLst/>
                <a:latin typeface="Google Sans Text"/>
              </a:rPr>
              <a:t> Uses custom </a:t>
            </a:r>
            <a:r>
              <a:rPr kumimoji="0" lang="en-US" altLang="en-US" sz="1600" b="1" i="0" u="none" strike="noStrike" cap="none" normalizeH="0" baseline="0" dirty="0">
                <a:ln>
                  <a:noFill/>
                </a:ln>
                <a:solidFill>
                  <a:schemeClr val="tx1"/>
                </a:solidFill>
                <a:effectLst/>
                <a:latin typeface="Google Sans Text"/>
              </a:rPr>
              <a:t>Recursive Character Text Splitter</a:t>
            </a:r>
            <a:r>
              <a:rPr kumimoji="0" lang="en-US" altLang="en-US" sz="1600" b="0" i="0" u="none" strike="noStrike" cap="none" normalizeH="0" baseline="0" dirty="0">
                <a:ln>
                  <a:noFill/>
                </a:ln>
                <a:solidFill>
                  <a:schemeClr val="tx1"/>
                </a:solidFill>
                <a:effectLst/>
                <a:latin typeface="Google Sans Text"/>
              </a:rPr>
              <a:t> nodes for semantic chunk formatting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 (1200 chunk size, 200 overlap) and </a:t>
            </a:r>
            <a:r>
              <a:rPr kumimoji="0" lang="en-US" altLang="en-US" sz="1600" b="1" i="0" u="none" strike="noStrike" cap="none" normalizeH="0" baseline="0" dirty="0">
                <a:ln>
                  <a:noFill/>
                </a:ln>
                <a:solidFill>
                  <a:schemeClr val="tx1"/>
                </a:solidFill>
                <a:effectLst/>
                <a:latin typeface="Google Sans Text"/>
              </a:rPr>
              <a:t>Data Parser</a:t>
            </a:r>
            <a:r>
              <a:rPr kumimoji="0" lang="en-US" altLang="en-US" sz="1600" b="0" i="0" u="none" strike="noStrike" cap="none" normalizeH="0" baseline="0" dirty="0">
                <a:ln>
                  <a:noFill/>
                </a:ln>
                <a:solidFill>
                  <a:schemeClr val="tx1"/>
                </a:solidFill>
                <a:effectLst/>
                <a:latin typeface="Google Sans Text"/>
              </a:rPr>
              <a:t> blocks to stringify retrieved context streams cleanly.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Google Sans Text"/>
              </a:rPr>
              <a:t>Infrastructure-as-Code (JSON Blueprinting):</a:t>
            </a:r>
            <a:r>
              <a:rPr kumimoji="0" lang="en-US" altLang="en-US" sz="1600" b="0" i="0" u="none" strike="noStrike" cap="none" normalizeH="0" baseline="0" dirty="0">
                <a:ln>
                  <a:noFill/>
                </a:ln>
                <a:solidFill>
                  <a:schemeClr val="tx1"/>
                </a:solidFill>
                <a:effectLst/>
                <a:latin typeface="Google Sans Text"/>
              </a:rPr>
              <a:t> Leveraged to securely sanitize, serialize, and export the entire canvas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Google Sans Text"/>
              </a:rPr>
              <a:t> workflow for zero-trust portability without exposing developer billing credentials.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75134"/>
            <a:ext cx="10607040" cy="984885"/>
          </a:xfrm>
          <a:prstGeom prst="rect">
            <a:avLst/>
          </a:prstGeom>
          <a:noFill/>
        </p:spPr>
        <p:txBody>
          <a:bodyPr wrap="square" rtlCol="0">
            <a:spAutoFit/>
          </a:bodyPr>
          <a:lstStyle/>
          <a:p>
            <a:pPr fontAlgn="base"/>
            <a:endParaRPr lang="en-US" b="1" dirty="0"/>
          </a:p>
          <a:p>
            <a:r>
              <a:rPr lang="en-US" b="1" dirty="0"/>
              <a:t>Proposed Solution: </a:t>
            </a:r>
            <a:r>
              <a:rPr lang="en-US" sz="1600" b="1" dirty="0"/>
              <a:t>RAG Admission Agent</a:t>
            </a:r>
          </a:p>
          <a:p>
            <a:pPr fontAlgn="base"/>
            <a:endParaRPr lang="en-US" dirty="0"/>
          </a:p>
          <a:p>
            <a:endParaRPr lang="en-IN" dirty="0"/>
          </a:p>
        </p:txBody>
      </p:sp>
      <p:sp>
        <p:nvSpPr>
          <p:cNvPr id="5" name="Rectangle 2">
            <a:extLst>
              <a:ext uri="{FF2B5EF4-FFF2-40B4-BE49-F238E27FC236}">
                <a16:creationId xmlns:a16="http://schemas.microsoft.com/office/drawing/2014/main" id="{F585F7DF-EC08-0716-BBCC-9AB0227EE0CB}"/>
              </a:ext>
            </a:extLst>
          </p:cNvPr>
          <p:cNvSpPr>
            <a:spLocks noChangeArrowheads="1"/>
          </p:cNvSpPr>
          <p:nvPr/>
        </p:nvSpPr>
        <p:spPr bwMode="auto">
          <a:xfrm>
            <a:off x="576072" y="1764479"/>
            <a:ext cx="11141446"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Text"/>
              </a:rPr>
              <a:t>To resolve this, we engineered a secure, production-ready </a:t>
            </a:r>
            <a:r>
              <a:rPr kumimoji="0" lang="en-US" altLang="en-US" b="1" i="0" u="none" strike="noStrike" cap="none" normalizeH="0" baseline="0" dirty="0">
                <a:ln>
                  <a:noFill/>
                </a:ln>
                <a:solidFill>
                  <a:schemeClr val="tx1"/>
                </a:solidFill>
                <a:effectLst/>
                <a:latin typeface="Google Sans Text"/>
              </a:rPr>
              <a:t>Retrieval-Augmented Generation (RAG)</a:t>
            </a:r>
            <a:r>
              <a:rPr kumimoji="0" lang="en-US" altLang="en-US" b="0" i="0" u="none" strike="noStrike" cap="none" normalizeH="0" baseline="0" dirty="0">
                <a:ln>
                  <a:noFill/>
                </a:ln>
                <a:solidFill>
                  <a:schemeClr val="tx1"/>
                </a:solidFill>
                <a:effectLst/>
                <a:latin typeface="Google Sans Text"/>
              </a:rPr>
              <a:t> pipeline designed</a:t>
            </a:r>
            <a:r>
              <a:rPr lang="en-US" altLang="en-US" dirty="0">
                <a:solidFill>
                  <a:schemeClr val="tx1"/>
                </a:solidFill>
                <a:latin typeface="Google Sans Text"/>
              </a:rPr>
              <a:t> </a:t>
            </a:r>
            <a:r>
              <a:rPr kumimoji="0" lang="en-US" altLang="en-US" b="0" i="0" u="none" strike="noStrike" cap="none" normalizeH="0" baseline="0" dirty="0">
                <a:ln>
                  <a:noFill/>
                </a:ln>
                <a:solidFill>
                  <a:schemeClr val="tx1"/>
                </a:solidFill>
                <a:effectLst/>
                <a:latin typeface="Google Sans Text"/>
              </a:rPr>
              <a:t>inside </a:t>
            </a:r>
            <a:r>
              <a:rPr kumimoji="0" lang="en-US" altLang="en-US" b="1" i="0" u="none" strike="noStrike" cap="none" normalizeH="0" baseline="0" dirty="0" err="1">
                <a:ln>
                  <a:noFill/>
                </a:ln>
                <a:solidFill>
                  <a:schemeClr val="tx1"/>
                </a:solidFill>
                <a:effectLst/>
                <a:latin typeface="Google Sans Text"/>
              </a:rPr>
              <a:t>Langflow</a:t>
            </a:r>
            <a:r>
              <a:rPr kumimoji="0" lang="en-US" altLang="en-US" b="0" i="0" u="none" strike="noStrike" cap="none" normalizeH="0" baseline="0" dirty="0">
                <a:ln>
                  <a:noFill/>
                </a:ln>
                <a:solidFill>
                  <a:schemeClr val="tx1"/>
                </a:solidFill>
                <a:effectLst/>
                <a:latin typeface="Google Sans Text"/>
              </a:rPr>
              <a:t> and accelerated by the </a:t>
            </a:r>
            <a:r>
              <a:rPr kumimoji="0" lang="en-US" altLang="en-US" b="1" i="0" u="none" strike="noStrike" cap="none" normalizeH="0" baseline="0" dirty="0">
                <a:ln>
                  <a:noFill/>
                </a:ln>
                <a:solidFill>
                  <a:schemeClr val="tx1"/>
                </a:solidFill>
                <a:effectLst/>
                <a:latin typeface="Google Sans Text"/>
              </a:rPr>
              <a:t>IBM watsonx.ai</a:t>
            </a:r>
            <a:r>
              <a:rPr kumimoji="0" lang="en-US" altLang="en-US" b="0" i="0" u="none" strike="noStrike" cap="none" normalizeH="0" baseline="0" dirty="0">
                <a:ln>
                  <a:noFill/>
                </a:ln>
                <a:solidFill>
                  <a:schemeClr val="tx1"/>
                </a:solidFill>
                <a:effectLst/>
                <a:latin typeface="Google Sans Text"/>
              </a:rPr>
              <a:t> ecosystem. The system guarantees </a:t>
            </a:r>
            <a:r>
              <a:rPr kumimoji="0" lang="en-US" altLang="en-US" b="1" i="0" u="none" strike="noStrike" cap="none" normalizeH="0" baseline="0" dirty="0">
                <a:ln>
                  <a:noFill/>
                </a:ln>
                <a:solidFill>
                  <a:schemeClr val="tx1"/>
                </a:solidFill>
                <a:effectLst/>
                <a:latin typeface="Google Sans Text"/>
              </a:rPr>
              <a:t>100% deterministic,</a:t>
            </a:r>
            <a:r>
              <a:rPr lang="en-US" altLang="en-US" b="1" dirty="0">
                <a:solidFill>
                  <a:schemeClr val="tx1"/>
                </a:solidFill>
                <a:latin typeface="Google Sans Text"/>
              </a:rPr>
              <a:t> </a:t>
            </a:r>
            <a:r>
              <a:rPr kumimoji="0" lang="en-US" altLang="en-US" b="1" i="0" u="none" strike="noStrike" cap="none" normalizeH="0" baseline="0" dirty="0">
                <a:ln>
                  <a:noFill/>
                </a:ln>
                <a:solidFill>
                  <a:schemeClr val="tx1"/>
                </a:solidFill>
                <a:effectLst/>
                <a:latin typeface="Google Sans Text"/>
              </a:rPr>
              <a:t>hallucination-free guidance</a:t>
            </a:r>
            <a:r>
              <a:rPr kumimoji="0" lang="en-US" altLang="en-US" b="0" i="0" u="none" strike="noStrike" cap="none" normalizeH="0" baseline="0" dirty="0">
                <a:ln>
                  <a:noFill/>
                </a:ln>
                <a:solidFill>
                  <a:schemeClr val="tx1"/>
                </a:solidFill>
                <a:effectLst/>
                <a:latin typeface="Google Sans Text"/>
              </a:rPr>
              <a:t> by explicitly grounding the AI's intelligence within official institutional policy guidelines.</a:t>
            </a:r>
            <a:endParaRPr kumimoji="0" lang="en-US" altLang="en-US" sz="7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Google Sans Text"/>
              </a:rPr>
              <a:t>Core Pillars of the Solution:</a:t>
            </a:r>
            <a:endParaRPr kumimoji="0" lang="en-US" altLang="en-US" sz="16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Google Sans Text"/>
              </a:rPr>
              <a:t>Advanced Semantic </a:t>
            </a:r>
            <a:r>
              <a:rPr kumimoji="0" lang="en-US" altLang="en-US" sz="1100" b="1" i="0" u="none" strike="noStrike" cap="none" normalizeH="0" baseline="0" dirty="0" err="1">
                <a:ln>
                  <a:noFill/>
                </a:ln>
                <a:solidFill>
                  <a:schemeClr val="tx1"/>
                </a:solidFill>
                <a:effectLst/>
                <a:latin typeface="Google Sans Text"/>
              </a:rPr>
              <a:t>Chunking:</a:t>
            </a:r>
            <a:r>
              <a:rPr kumimoji="0" lang="en-US" altLang="en-US" b="0" i="0" u="none" strike="noStrike" cap="none" normalizeH="0" baseline="0" dirty="0" err="1">
                <a:ln>
                  <a:noFill/>
                </a:ln>
                <a:solidFill>
                  <a:schemeClr val="tx1"/>
                </a:solidFill>
                <a:effectLst/>
                <a:latin typeface="Google Sans Text"/>
              </a:rPr>
              <a:t>Uses</a:t>
            </a:r>
            <a:r>
              <a:rPr kumimoji="0" lang="en-US" altLang="en-US" b="0" i="0" u="none" strike="noStrike" cap="none" normalizeH="0" baseline="0" dirty="0">
                <a:ln>
                  <a:noFill/>
                </a:ln>
                <a:solidFill>
                  <a:schemeClr val="tx1"/>
                </a:solidFill>
                <a:effectLst/>
                <a:latin typeface="Google Sans Text"/>
              </a:rPr>
              <a:t> a customized text splitter (1000-character chunk, 200-character overlap) to index</a:t>
            </a:r>
            <a:r>
              <a:rPr lang="en-US" altLang="en-US" dirty="0">
                <a:solidFill>
                  <a:schemeClr val="tx1"/>
                </a:solidFill>
                <a:latin typeface="Google Sans Text"/>
              </a:rPr>
              <a:t> </a:t>
            </a:r>
            <a:r>
              <a:rPr kumimoji="0" lang="en-US" altLang="en-US" b="0" i="0" u="none" strike="noStrike" cap="none" normalizeH="0" baseline="0" dirty="0">
                <a:ln>
                  <a:noFill/>
                </a:ln>
                <a:solidFill>
                  <a:schemeClr val="tx1"/>
                </a:solidFill>
                <a:effectLst/>
                <a:latin typeface="Google Sans Text"/>
              </a:rPr>
              <a:t>complex pricing matrices, document checklists, and cutoff data as unified data assets—ensuring data transitions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Google Sans Text"/>
              </a:rPr>
              <a:t>never lose context.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Text"/>
              </a:rPr>
              <a:t>IBM Granite &amp; Slate </a:t>
            </a:r>
            <a:r>
              <a:rPr kumimoji="0" lang="en-US" altLang="en-US" b="1" i="0" u="none" strike="noStrike" cap="none" normalizeH="0" baseline="0" dirty="0" err="1">
                <a:ln>
                  <a:noFill/>
                </a:ln>
                <a:solidFill>
                  <a:schemeClr val="tx1"/>
                </a:solidFill>
                <a:effectLst/>
                <a:latin typeface="Google Sans Text"/>
              </a:rPr>
              <a:t>Intelligence:</a:t>
            </a:r>
            <a:r>
              <a:rPr kumimoji="0" lang="en-US" altLang="en-US" b="0" i="0" u="none" strike="noStrike" cap="none" normalizeH="0" baseline="0" dirty="0" err="1">
                <a:ln>
                  <a:noFill/>
                </a:ln>
                <a:solidFill>
                  <a:schemeClr val="tx1"/>
                </a:solidFill>
                <a:effectLst/>
                <a:latin typeface="Google Sans Text"/>
              </a:rPr>
              <a:t>Leverages</a:t>
            </a:r>
            <a:r>
              <a:rPr kumimoji="0" lang="en-US" altLang="en-US" b="0" i="0" u="none" strike="noStrike" cap="none" normalizeH="0" baseline="0" dirty="0">
                <a:ln>
                  <a:noFill/>
                </a:ln>
                <a:solidFill>
                  <a:schemeClr val="tx1"/>
                </a:solidFill>
                <a:effectLst/>
                <a:latin typeface="Google Sans Text"/>
              </a:rPr>
              <a:t> the </a:t>
            </a:r>
            <a:r>
              <a:rPr kumimoji="0" lang="en-US" altLang="en-US" b="1" i="0" u="none" strike="noStrike" cap="none" normalizeH="0" baseline="0" dirty="0">
                <a:ln>
                  <a:noFill/>
                </a:ln>
                <a:solidFill>
                  <a:schemeClr val="tx1"/>
                </a:solidFill>
                <a:effectLst/>
                <a:latin typeface="Google Sans Text"/>
              </a:rPr>
              <a:t>IBM Slate embedding engine</a:t>
            </a:r>
            <a:r>
              <a:rPr kumimoji="0" lang="en-US" altLang="en-US" b="0" i="0" u="none" strike="noStrike" cap="none" normalizeH="0" baseline="0" dirty="0">
                <a:ln>
                  <a:noFill/>
                </a:ln>
                <a:solidFill>
                  <a:schemeClr val="tx1"/>
                </a:solidFill>
                <a:effectLst/>
                <a:latin typeface="Google Sans Text"/>
              </a:rPr>
              <a:t> (</a:t>
            </a:r>
            <a:r>
              <a:rPr kumimoji="0" lang="en-US" altLang="en-US" sz="1600" b="0" i="0" u="none" strike="noStrike" cap="none" normalizeH="0" baseline="0" dirty="0">
                <a:ln>
                  <a:noFill/>
                </a:ln>
                <a:solidFill>
                  <a:schemeClr val="tx1"/>
                </a:solidFill>
                <a:effectLst/>
                <a:latin typeface="Google Sans Text"/>
              </a:rPr>
              <a:t>slate-125m-english-rtrvr-v2</a:t>
            </a:r>
            <a:r>
              <a:rPr kumimoji="0" lang="en-US" altLang="en-US" sz="1200" b="0" i="0" u="none" strike="noStrike" cap="none" normalizeH="0" baseline="0" dirty="0">
                <a:ln>
                  <a:noFill/>
                </a:ln>
                <a:solidFill>
                  <a:schemeClr val="tx1"/>
                </a:solidFill>
                <a:effectLst/>
                <a:latin typeface="Google Sans Text"/>
              </a:rPr>
              <a:t>) to</a:t>
            </a:r>
            <a:r>
              <a:rPr lang="en-US" altLang="en-US" sz="1200" dirty="0">
                <a:solidFill>
                  <a:schemeClr val="tx1"/>
                </a:solidFill>
                <a:latin typeface="Google Sans Text"/>
              </a:rPr>
              <a:t> </a:t>
            </a:r>
            <a:r>
              <a:rPr kumimoji="0" lang="en-US" altLang="en-US" sz="1200" b="0" i="0" u="none" strike="noStrike" cap="none" normalizeH="0" baseline="0" dirty="0">
                <a:ln>
                  <a:noFill/>
                </a:ln>
                <a:solidFill>
                  <a:schemeClr val="tx1"/>
                </a:solidFill>
                <a:effectLst/>
                <a:latin typeface="Google Sans Text"/>
              </a:rPr>
              <a:t>mathematically vectorize documents for a localized.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Text"/>
              </a:rPr>
              <a:t>FAISS vector </a:t>
            </a:r>
            <a:r>
              <a:rPr kumimoji="0" lang="en-US" altLang="en-US" b="1" i="0" u="none" strike="noStrike" cap="none" normalizeH="0" baseline="0" dirty="0" err="1">
                <a:ln>
                  <a:noFill/>
                </a:ln>
                <a:solidFill>
                  <a:schemeClr val="tx1"/>
                </a:solidFill>
                <a:effectLst/>
                <a:latin typeface="Google Sans Text"/>
              </a:rPr>
              <a:t>repository</a:t>
            </a:r>
            <a:r>
              <a:rPr lang="en-US" altLang="en-US" dirty="0" err="1">
                <a:solidFill>
                  <a:schemeClr val="tx1"/>
                </a:solidFill>
                <a:latin typeface="Google Sans Text"/>
              </a:rPr>
              <a:t>:</a:t>
            </a:r>
            <a:r>
              <a:rPr kumimoji="0" lang="en-US" altLang="en-US" b="0" i="0" u="none" strike="noStrike" cap="none" normalizeH="0" baseline="0" dirty="0" err="1">
                <a:ln>
                  <a:noFill/>
                </a:ln>
                <a:solidFill>
                  <a:schemeClr val="tx1"/>
                </a:solidFill>
                <a:effectLst/>
                <a:latin typeface="Google Sans Text"/>
              </a:rPr>
              <a:t>Utilizes</a:t>
            </a:r>
            <a:r>
              <a:rPr kumimoji="0" lang="en-US" altLang="en-US" b="0" i="0" u="none" strike="noStrike" cap="none" normalizeH="0" baseline="0" dirty="0">
                <a:ln>
                  <a:noFill/>
                </a:ln>
                <a:solidFill>
                  <a:schemeClr val="tx1"/>
                </a:solidFill>
                <a:effectLst/>
                <a:latin typeface="Google Sans Text"/>
              </a:rPr>
              <a:t> a deep search depth and a flattened parsing structure to provide the LLM with</a:t>
            </a:r>
            <a:r>
              <a:rPr lang="en-US" altLang="en-US" dirty="0">
                <a:solidFill>
                  <a:schemeClr val="tx1"/>
                </a:solidFill>
                <a:latin typeface="Google Sans Text"/>
              </a:rPr>
              <a:t> </a:t>
            </a:r>
            <a:r>
              <a:rPr kumimoji="0" lang="en-US" altLang="en-US" b="0" i="0" u="none" strike="noStrike" cap="none" normalizeH="0" baseline="0" dirty="0">
                <a:ln>
                  <a:noFill/>
                </a:ln>
                <a:solidFill>
                  <a:schemeClr val="tx1"/>
                </a:solidFill>
                <a:effectLst/>
                <a:latin typeface="Google Sans Text"/>
              </a:rPr>
              <a:t>comprehensive context for every prompt.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Text"/>
              </a:rPr>
              <a:t>Deterministic Guardrails:</a:t>
            </a:r>
            <a:r>
              <a:rPr kumimoji="0" lang="en-US" altLang="en-US" b="0" i="0" u="none" strike="noStrike" cap="none" normalizeH="0" baseline="0" dirty="0">
                <a:ln>
                  <a:noFill/>
                </a:ln>
                <a:solidFill>
                  <a:schemeClr val="tx1"/>
                </a:solidFill>
                <a:effectLst/>
                <a:latin typeface="Google Sans Text"/>
              </a:rPr>
              <a:t> The final evaluation is executed via an elite </a:t>
            </a:r>
            <a:r>
              <a:rPr kumimoji="0" lang="en-US" altLang="en-US" b="1" i="0" u="none" strike="noStrike" cap="none" normalizeH="0" baseline="0" dirty="0">
                <a:ln>
                  <a:noFill/>
                </a:ln>
                <a:solidFill>
                  <a:schemeClr val="tx1"/>
                </a:solidFill>
                <a:effectLst/>
                <a:latin typeface="Google Sans Text"/>
              </a:rPr>
              <a:t>IBM watsonx.ai LLM instruction model</a:t>
            </a:r>
            <a:r>
              <a:rPr kumimoji="0" lang="en-US" altLang="en-US" b="0" i="0" u="none" strike="noStrike" cap="none" normalizeH="0" baseline="0" dirty="0">
                <a:ln>
                  <a:noFill/>
                </a:ln>
                <a:solidFill>
                  <a:schemeClr val="tx1"/>
                </a:solidFill>
                <a:effectLst/>
                <a:latin typeface="Google Sans Text"/>
              </a:rPr>
              <a:t>,</a:t>
            </a:r>
            <a:r>
              <a:rPr lang="en-US" altLang="en-US" dirty="0">
                <a:solidFill>
                  <a:schemeClr val="tx1"/>
                </a:solidFill>
                <a:latin typeface="Google Sans Text"/>
              </a:rPr>
              <a:t> </a:t>
            </a:r>
            <a:r>
              <a:rPr kumimoji="0" lang="en-US" altLang="en-US" b="0" i="0" u="none" strike="noStrike" cap="none" normalizeH="0" baseline="0" dirty="0">
                <a:ln>
                  <a:noFill/>
                </a:ln>
                <a:solidFill>
                  <a:schemeClr val="tx1"/>
                </a:solidFill>
                <a:effectLst/>
                <a:latin typeface="Google Sans Text"/>
              </a:rPr>
              <a:t>strictly bound by custom system prompt engineering. If a fee or cutoff isn't written in the official text file, the model</a:t>
            </a:r>
            <a:r>
              <a:rPr lang="en-US" altLang="en-US" dirty="0">
                <a:solidFill>
                  <a:schemeClr val="tx1"/>
                </a:solidFill>
                <a:latin typeface="Google Sans Text"/>
              </a:rPr>
              <a:t> </a:t>
            </a:r>
            <a:r>
              <a:rPr kumimoji="0" lang="en-US" altLang="en-US" b="0" i="0" u="none" strike="noStrike" cap="none" normalizeH="0" baseline="0" dirty="0">
                <a:ln>
                  <a:noFill/>
                </a:ln>
                <a:solidFill>
                  <a:schemeClr val="tx1"/>
                </a:solidFill>
                <a:effectLst/>
                <a:latin typeface="Google Sans Text"/>
              </a:rPr>
              <a:t>is restricted from making it up.</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Google Sans Text"/>
              </a:rPr>
              <a:t>Zero-Trust Security Infrastructure:</a:t>
            </a:r>
            <a:r>
              <a:rPr kumimoji="0" lang="en-US" altLang="en-US" b="0" i="0" u="none" strike="noStrike" cap="none" normalizeH="0" baseline="0" dirty="0">
                <a:ln>
                  <a:noFill/>
                </a:ln>
                <a:solidFill>
                  <a:schemeClr val="tx1"/>
                </a:solidFill>
                <a:effectLst/>
                <a:latin typeface="Google Sans Text"/>
              </a:rPr>
              <a:t> Built as an entirely secure, portable </a:t>
            </a:r>
            <a:r>
              <a:rPr kumimoji="0" lang="en-US" altLang="en-US" b="1" i="0" u="none" strike="noStrike" cap="none" normalizeH="0" baseline="0" dirty="0">
                <a:ln>
                  <a:noFill/>
                </a:ln>
                <a:solidFill>
                  <a:schemeClr val="tx1"/>
                </a:solidFill>
                <a:effectLst/>
                <a:latin typeface="Google Sans Text"/>
              </a:rPr>
              <a:t>Infrastructure-as-Code</a:t>
            </a:r>
            <a:r>
              <a:rPr kumimoji="0" lang="en-US" altLang="en-US" b="0" i="0" u="none" strike="noStrike" cap="none" normalizeH="0" baseline="0" dirty="0">
                <a:ln>
                  <a:noFill/>
                </a:ln>
                <a:solidFill>
                  <a:schemeClr val="tx1"/>
                </a:solidFill>
                <a:effectLst/>
                <a:latin typeface="Google Sans Text"/>
              </a:rPr>
              <a:t> schematic. The</a:t>
            </a:r>
            <a:r>
              <a:rPr lang="en-US" altLang="en-US" dirty="0">
                <a:solidFill>
                  <a:schemeClr val="tx1"/>
                </a:solidFill>
                <a:latin typeface="Google Sans Text"/>
              </a:rPr>
              <a:t> </a:t>
            </a:r>
            <a:r>
              <a:rPr kumimoji="0" lang="en-US" altLang="en-US" b="0" i="0" u="none" strike="noStrike" cap="none" normalizeH="0" baseline="0" dirty="0">
                <a:ln>
                  <a:noFill/>
                </a:ln>
                <a:solidFill>
                  <a:schemeClr val="tx1"/>
                </a:solidFill>
                <a:effectLst/>
                <a:latin typeface="Google Sans Text"/>
              </a:rPr>
              <a:t>configuration layout completely strips out private developer billing credentials, allowing evaluating authorities</a:t>
            </a:r>
            <a:r>
              <a:rPr lang="en-US" altLang="en-US" dirty="0">
                <a:solidFill>
                  <a:schemeClr val="tx1"/>
                </a:solidFill>
                <a:latin typeface="Google Sans Text"/>
              </a:rPr>
              <a:t> </a:t>
            </a:r>
            <a:r>
              <a:rPr kumimoji="0" lang="en-US" altLang="en-US" b="0" i="0" u="none" strike="noStrike" cap="none" normalizeH="0" baseline="0" dirty="0">
                <a:ln>
                  <a:noFill/>
                </a:ln>
                <a:solidFill>
                  <a:schemeClr val="tx1"/>
                </a:solidFill>
                <a:effectLst/>
                <a:latin typeface="Google Sans Text"/>
              </a:rPr>
              <a:t>to instantly import the JSON architecture and scale it securely using their own keys.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B24C3AE1-E82D-06D6-C04D-5A9271BA12BC}"/>
              </a:ext>
            </a:extLst>
          </p:cNvPr>
          <p:cNvSpPr>
            <a:spLocks noChangeArrowheads="1"/>
          </p:cNvSpPr>
          <p:nvPr/>
        </p:nvSpPr>
        <p:spPr bwMode="auto">
          <a:xfrm>
            <a:off x="350519" y="806766"/>
            <a:ext cx="11960325"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File / Text Loader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Acts as the data ingestion gate; it takes your raw unstructured </a:t>
            </a:r>
            <a:r>
              <a:rPr kumimoji="0" lang="en-US" altLang="en-US" sz="1600" b="0" i="0" u="none" strike="noStrike" cap="none" normalizeH="0" baseline="0" dirty="0">
                <a:ln>
                  <a:noFill/>
                </a:ln>
                <a:solidFill>
                  <a:schemeClr val="tx1"/>
                </a:solidFill>
                <a:effectLst/>
              </a:rPr>
              <a:t>file and reads it</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rPr>
              <a:t>into the pipeline as an operational data</a:t>
            </a:r>
            <a:r>
              <a:rPr lang="en-US" altLang="en-US" sz="1600" dirty="0">
                <a:solidFill>
                  <a:schemeClr val="tx1"/>
                </a:solidFill>
              </a:rPr>
              <a:t> </a:t>
            </a:r>
            <a:r>
              <a:rPr kumimoji="0" lang="en-US" altLang="en-US" sz="1600" b="0" i="0" u="none" strike="noStrike" cap="none" normalizeH="0" baseline="0" dirty="0">
                <a:ln>
                  <a:noFill/>
                </a:ln>
                <a:solidFill>
                  <a:schemeClr val="tx1"/>
                </a:solidFill>
                <a:effectLst/>
              </a:rPr>
              <a:t>stream</a:t>
            </a:r>
            <a:r>
              <a:rPr kumimoji="0" lang="en-US" altLang="en-US" sz="9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Recursive Character Text Splitter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Handles the intelligent semantic chunking by analyzing text</a:t>
            </a: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breaks (</a:t>
            </a:r>
            <a:r>
              <a:rPr kumimoji="0" lang="en-US" altLang="en-US" sz="1600" b="0" i="0" u="none" strike="noStrike" cap="none" normalizeH="0" baseline="0" dirty="0">
                <a:ln>
                  <a:noFill/>
                </a:ln>
                <a:solidFill>
                  <a:schemeClr val="tx1"/>
                </a:solidFill>
                <a:effectLst/>
                <a:latin typeface="Arial Unicode MS"/>
              </a:rPr>
              <a:t>\n\n</a:t>
            </a:r>
            <a:r>
              <a:rPr kumimoji="0" lang="en-US" altLang="en-US" sz="12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\n</a:t>
            </a:r>
            <a:r>
              <a:rPr kumimoji="0" lang="en-US" altLang="en-US" sz="1200" b="0" i="0" u="none" strike="noStrike" cap="none" normalizeH="0" baseline="0" dirty="0">
                <a:ln>
                  <a:noFill/>
                </a:ln>
                <a:solidFill>
                  <a:schemeClr val="tx1"/>
                </a:solidFill>
                <a:effectLst/>
              </a:rPr>
              <a:t>). It is configured with a </a:t>
            </a:r>
            <a:r>
              <a:rPr kumimoji="0" lang="en-US" altLang="en-US" sz="1800" b="1" i="0" u="none" strike="noStrike" cap="none" normalizeH="0" baseline="0" dirty="0">
                <a:ln>
                  <a:noFill/>
                </a:ln>
                <a:solidFill>
                  <a:schemeClr val="tx1"/>
                </a:solidFill>
                <a:effectLst/>
                <a:latin typeface="Arial" panose="020B0604020202020204" pitchFamily="34" charset="0"/>
              </a:rPr>
              <a:t>Chunk Size of 1000</a:t>
            </a:r>
            <a:r>
              <a:rPr kumimoji="0" lang="en-US" altLang="en-US" sz="1800" b="0" i="0" u="none" strike="noStrike" cap="none" normalizeH="0" baseline="0" dirty="0">
                <a:ln>
                  <a:noFill/>
                </a:ln>
                <a:solidFill>
                  <a:schemeClr val="tx1"/>
                </a:solidFill>
                <a:effectLst/>
                <a:latin typeface="Arial" panose="020B0604020202020204" pitchFamily="34" charset="0"/>
              </a:rPr>
              <a:t> and a </a:t>
            </a:r>
            <a:r>
              <a:rPr kumimoji="0" lang="en-US" altLang="en-US" sz="1800" b="1" i="0" u="none" strike="noStrike" cap="none" normalizeH="0" baseline="0" dirty="0">
                <a:ln>
                  <a:noFill/>
                </a:ln>
                <a:solidFill>
                  <a:schemeClr val="tx1"/>
                </a:solidFill>
                <a:effectLst/>
                <a:latin typeface="Arial" panose="020B0604020202020204" pitchFamily="34" charset="0"/>
              </a:rPr>
              <a:t>Chunk Overlap of 200</a:t>
            </a:r>
            <a:r>
              <a:rPr kumimoji="0" lang="en-US" altLang="en-US" sz="1800" b="0" i="0" u="none" strike="noStrike" cap="none" normalizeH="0" baseline="0" dirty="0">
                <a:ln>
                  <a:noFill/>
                </a:ln>
                <a:solidFill>
                  <a:schemeClr val="tx1"/>
                </a:solidFill>
                <a:effectLst/>
                <a:latin typeface="Arial" panose="020B0604020202020204" pitchFamily="34" charset="0"/>
              </a:rPr>
              <a:t> to keep tables, lists, and fees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safely bound together.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IBM watsonx.ai Embeddings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Translates human text chunks into dense mathematical vector arrays.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It connects directly to the IBM ecosystem using the specialized </a:t>
            </a:r>
            <a:r>
              <a:rPr kumimoji="0" lang="en-US" altLang="en-US" sz="1600" b="1" i="0" u="none" strike="noStrike" cap="none" normalizeH="0" baseline="0" dirty="0" err="1">
                <a:ln>
                  <a:noFill/>
                </a:ln>
                <a:solidFill>
                  <a:schemeClr val="tx1"/>
                </a:solidFill>
                <a:effectLst/>
                <a:latin typeface="Arial Unicode MS"/>
              </a:rPr>
              <a:t>ibm</a:t>
            </a:r>
            <a:r>
              <a:rPr kumimoji="0" lang="en-US" altLang="en-US" sz="1600" b="1" i="0" u="none" strike="noStrike" cap="none" normalizeH="0" baseline="0" dirty="0">
                <a:ln>
                  <a:noFill/>
                </a:ln>
                <a:solidFill>
                  <a:schemeClr val="tx1"/>
                </a:solidFill>
                <a:effectLst/>
                <a:latin typeface="Arial Unicode MS"/>
              </a:rPr>
              <a:t>/slate-125m-english-rtrvr-v2</a:t>
            </a:r>
            <a:r>
              <a:rPr kumimoji="0" lang="en-US" altLang="en-US" sz="1200" b="0" i="0" u="none" strike="noStrike" cap="none" normalizeH="0" baseline="0" dirty="0">
                <a:ln>
                  <a:noFill/>
                </a:ln>
                <a:solidFill>
                  <a:schemeClr val="tx1"/>
                </a:solidFill>
                <a:effectLst/>
              </a:rPr>
              <a:t> retrieval model.</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FAISS Vector Store (Ingestion &amp; Search)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centralized memory database of your bot. It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indexes your text embeddings, allows local loading via the </a:t>
            </a:r>
            <a:r>
              <a:rPr kumimoji="0" lang="en-US" altLang="en-US" sz="1800" b="1" i="0" u="none" strike="noStrike" cap="none" normalizeH="0" baseline="0" dirty="0">
                <a:ln>
                  <a:noFill/>
                </a:ln>
                <a:solidFill>
                  <a:schemeClr val="tx1"/>
                </a:solidFill>
                <a:effectLst/>
                <a:latin typeface="Arial" panose="020B0604020202020204" pitchFamily="34" charset="0"/>
              </a:rPr>
              <a:t>Chat Input Component</a:t>
            </a:r>
          </a:p>
          <a:p>
            <a:pPr marL="0" marR="0" lvl="0" indent="0" algn="l" defTabSz="914400" rtl="0" eaLnBrk="0" fontAlgn="base" latinLnBrk="0" hangingPunct="0">
              <a:lnSpc>
                <a:spcPct val="100000"/>
              </a:lnSpc>
              <a:spcBef>
                <a:spcPct val="0"/>
              </a:spcBef>
              <a:spcAft>
                <a:spcPct val="0"/>
              </a:spcAft>
              <a:buClrTx/>
              <a:buSzTx/>
              <a:tabLst/>
            </a:pPr>
            <a:r>
              <a:rPr lang="en-US" altLang="en-US" sz="2000" dirty="0" err="1">
                <a:solidFill>
                  <a:schemeClr val="tx1"/>
                </a:solidFill>
                <a:latin typeface="Arial Unicode MS"/>
              </a:rPr>
              <a:t>allow_dangerous_deserialization</a:t>
            </a:r>
            <a:r>
              <a:rPr lang="en-US" altLang="en-US" sz="2000" dirty="0">
                <a:solidFill>
                  <a:schemeClr val="tx1"/>
                </a:solidFill>
                <a:latin typeface="Arial Unicode MS"/>
              </a:rPr>
              <a:t>: true</a:t>
            </a:r>
            <a:r>
              <a:rPr lang="en-US" altLang="en-US" sz="1600" dirty="0">
                <a:solidFill>
                  <a:schemeClr val="tx1"/>
                </a:solidFill>
              </a:rPr>
              <a:t> safety bypass, and executes high-speed vector searches.</a:t>
            </a:r>
            <a:endParaRPr lang="en-US" altLang="en-US" sz="4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primary listener node that captures the student's live queries (like asking about cutoffs or hostel fees)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from the Playground interface and passes them to the search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Parse Data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Acts as the data bridge between your database and your prompt.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It is explicitly set to </a:t>
            </a:r>
            <a:r>
              <a:rPr kumimoji="0" lang="en-US" altLang="en-US" sz="1600" b="1" i="0" u="none" strike="noStrike" cap="none" normalizeH="0" baseline="0" dirty="0">
                <a:ln>
                  <a:noFill/>
                </a:ln>
                <a:solidFill>
                  <a:schemeClr val="tx1"/>
                </a:solidFill>
                <a:effectLst/>
                <a:latin typeface="Arial Unicode MS"/>
              </a:rPr>
              <a:t>Stringify</a:t>
            </a:r>
            <a:r>
              <a:rPr kumimoji="0" lang="en-US" altLang="en-US" sz="1200" b="0" i="0" u="none" strike="noStrike" cap="none" normalizeH="0" baseline="0" dirty="0">
                <a:ln>
                  <a:noFill/>
                </a:ln>
                <a:solidFill>
                  <a:schemeClr val="tx1"/>
                </a:solidFill>
                <a:effectLst/>
              </a:rPr>
              <a:t> mode to flatten multiple abstract vector chunks from FAISS into a single, clean plain-text paragraph.</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Prompt Template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engineering workspace where the system rules are defined. It takes the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text from the Parser.</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IBM watsonx.ai (LLM)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ultimate decision-making and generation engine. It receives the</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complete payload from your Prompt Template, safely cross-references the verified guidelines,</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and generates the definitive text answer.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Chat Output Component</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final delivery node that securely pipes the structured, hallucination-free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response from the IBM LLM back into the student's chat window.</a:t>
            </a:r>
          </a:p>
        </p:txBody>
      </p:sp>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rcRect/>
          <a:stretch/>
        </p:blipFill>
        <p:spPr>
          <a:xfrm>
            <a:off x="1079776" y="1066220"/>
            <a:ext cx="10238981"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srcRect t="12668" b="2664"/>
          <a:stretch>
            <a:fillRect/>
          </a:stretch>
        </p:blipFill>
        <p:spPr>
          <a:xfrm>
            <a:off x="933055" y="995424"/>
            <a:ext cx="10386985" cy="5539338"/>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74099-828C-350D-8F42-28E15001397A}"/>
              </a:ext>
            </a:extLst>
          </p:cNvPr>
          <p:cNvSpPr>
            <a:spLocks noGrp="1"/>
          </p:cNvSpPr>
          <p:nvPr>
            <p:ph type="title"/>
          </p:nvPr>
        </p:nvSpPr>
        <p:spPr>
          <a:xfrm>
            <a:off x="470554" y="-94268"/>
            <a:ext cx="10515600" cy="1325563"/>
          </a:xfrm>
        </p:spPr>
        <p:txBody>
          <a:bodyPr>
            <a:normAutofit/>
          </a:bodyPr>
          <a:lstStyle/>
          <a:p>
            <a:r>
              <a:rPr lang="en-US" sz="2400" b="1" dirty="0"/>
              <a:t>Token usage</a:t>
            </a:r>
          </a:p>
        </p:txBody>
      </p:sp>
      <p:pic>
        <p:nvPicPr>
          <p:cNvPr id="4" name="Picture 3">
            <a:extLst>
              <a:ext uri="{FF2B5EF4-FFF2-40B4-BE49-F238E27FC236}">
                <a16:creationId xmlns:a16="http://schemas.microsoft.com/office/drawing/2014/main" id="{FC8940E6-C23B-15EF-270B-A53151865470}"/>
              </a:ext>
            </a:extLst>
          </p:cNvPr>
          <p:cNvPicPr>
            <a:picLocks noChangeAspect="1"/>
          </p:cNvPicPr>
          <p:nvPr/>
        </p:nvPicPr>
        <p:blipFill>
          <a:blip r:embed="rId2"/>
          <a:stretch>
            <a:fillRect/>
          </a:stretch>
        </p:blipFill>
        <p:spPr>
          <a:xfrm>
            <a:off x="455741" y="1743958"/>
            <a:ext cx="11443392" cy="3418741"/>
          </a:xfrm>
          <a:prstGeom prst="rect">
            <a:avLst/>
          </a:prstGeom>
        </p:spPr>
      </p:pic>
    </p:spTree>
    <p:extLst>
      <p:ext uri="{BB962C8B-B14F-4D97-AF65-F5344CB8AC3E}">
        <p14:creationId xmlns:p14="http://schemas.microsoft.com/office/powerpoint/2010/main" val="667186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78313"/>
          </a:xfrm>
          <a:prstGeom prst="rect">
            <a:avLst/>
          </a:prstGeom>
          <a:noFill/>
        </p:spPr>
        <p:txBody>
          <a:bodyPr wrap="square" rtlCol="0">
            <a:spAutoFit/>
          </a:bodyPr>
          <a:lstStyle/>
          <a:p>
            <a:r>
              <a:rPr lang="en-US" sz="1600" dirty="0"/>
              <a:t>Unlike generic chat assistants that offer speculative answers based on broad internet data, this solution introduces an elite level of predictability by enforcing strict factual grounding. The novelty lies in building a zero-trust, closed-loop retrieval environment where the underlying LLM is prohibited from generating responses outside the provided context matrix. By structurally embedding institutional logic—such as exact cutoff metrics and tiered fee structures—directly into a local vector pipeline, we eliminate the core flaw of traditional conversational interfaces: AI hallucinations. This ensures that every generated output acts as a true, legally compliant reflection of official institutional policy.</a:t>
            </a:r>
          </a:p>
          <a:p>
            <a:endParaRPr lang="en-US" sz="1800" b="1" dirty="0"/>
          </a:p>
          <a:p>
            <a:r>
              <a:rPr lang="en-US" sz="1800" b="1" dirty="0"/>
              <a:t>📌 What Makes This Solution Unique</a:t>
            </a:r>
          </a:p>
          <a:p>
            <a:r>
              <a:rPr lang="en-US" sz="1600" b="1" dirty="0"/>
              <a:t>Context-Enforced Guardrails: </a:t>
            </a:r>
            <a:r>
              <a:rPr lang="en-US" sz="1600" dirty="0"/>
              <a:t>Integrates custom prompt constraints that actively strip away the model's tendency to guess, forcing it to politely decline to answer if a specific data point is missing from the underlying document.</a:t>
            </a:r>
          </a:p>
          <a:p>
            <a:endParaRPr lang="en-US" sz="1600" dirty="0"/>
          </a:p>
          <a:p>
            <a:r>
              <a:rPr lang="en-US" sz="1600" b="1" dirty="0"/>
              <a:t>Granite-Slate Pipeline Integration: </a:t>
            </a:r>
            <a:r>
              <a:rPr lang="en-US" sz="1600" dirty="0"/>
              <a:t>Maximizes mathematical retrieval accuracy by utilizing enterprise-grade </a:t>
            </a:r>
            <a:r>
              <a:rPr lang="en-US" sz="1600" dirty="0" err="1"/>
              <a:t>ibm</a:t>
            </a:r>
            <a:r>
              <a:rPr lang="en-US" sz="1600" dirty="0"/>
              <a:t>/slate-125m-english-rtrvr-v2 models, making the system highly specialized for reading complex, tabular government college data streams.</a:t>
            </a:r>
          </a:p>
          <a:p>
            <a:endParaRPr lang="en-US" sz="1600" b="1" dirty="0"/>
          </a:p>
          <a:p>
            <a:r>
              <a:rPr lang="en-US" sz="1600" b="1" dirty="0"/>
              <a:t>Isolated Vector Parsing: </a:t>
            </a:r>
            <a:r>
              <a:rPr lang="en-US" sz="1600" dirty="0"/>
              <a:t>Employs an explicit </a:t>
            </a:r>
            <a:r>
              <a:rPr lang="en-US" sz="1600" dirty="0" err="1"/>
              <a:t>stringification</a:t>
            </a:r>
            <a:r>
              <a:rPr lang="en-US" sz="1600" dirty="0"/>
              <a:t> parser block that flattens multi-layered semantic array chunks into single context payloads, avoiding the disjointed memory issues common in open-source chat setups.</a:t>
            </a:r>
          </a:p>
          <a:p>
            <a:endParaRPr lang="en-US" sz="1600" dirty="0"/>
          </a:p>
          <a:p>
            <a:r>
              <a:rPr lang="en-US" sz="1600" b="1" dirty="0"/>
              <a:t>Sanitized Infrastructure-as-Code: </a:t>
            </a:r>
            <a:r>
              <a:rPr lang="en-US" sz="1600" dirty="0"/>
              <a:t>Delivers an entirely exportable workspace structure that completely hides developer billing credentials, offering an open-source template that evaluators can safely audit, clone, and deploy instantly.</a:t>
            </a:r>
            <a:endParaRPr lang="en-IN" sz="1200"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err="1">
                <a:solidFill>
                  <a:srgbClr val="2B3541"/>
                </a:solidFill>
                <a:latin typeface="Times New Roman"/>
                <a:ea typeface="Times New Roman"/>
                <a:cs typeface="Times New Roman"/>
                <a:sym typeface="Times New Roman"/>
                <a:hlinkClick r:id="rId3"/>
              </a:rPr>
              <a:t>Github_Repo_For_This_Project</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hlinkClick r:id="rId3"/>
              </a:rPr>
              <a:t>https://github.com/CoderforLife-AK/College_Admission_RAG_Bot.git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Transition to an Autonomous Agentic Framework: </a:t>
            </a:r>
            <a:r>
              <a:rPr lang="en-US" sz="1850" dirty="0">
                <a:solidFill>
                  <a:srgbClr val="2B3541"/>
                </a:solidFill>
                <a:latin typeface="Times New Roman"/>
                <a:ea typeface="Times New Roman"/>
                <a:cs typeface="Times New Roman"/>
                <a:sym typeface="Times New Roman"/>
              </a:rPr>
              <a:t>Upgrade the linear RAG pipeline into an Agentic AI system capable of multi-step reasoning, enabling the bot to dynamically select tools, validate inputs, and process complex mathematical eligibility calculations on its own.</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Live API &amp; Database Integration: </a:t>
            </a:r>
            <a:r>
              <a:rPr lang="en-US" sz="1850" dirty="0">
                <a:solidFill>
                  <a:srgbClr val="2B3541"/>
                </a:solidFill>
                <a:latin typeface="Times New Roman"/>
                <a:ea typeface="Times New Roman"/>
                <a:cs typeface="Times New Roman"/>
                <a:sym typeface="Times New Roman"/>
              </a:rPr>
              <a:t>Replace the static text-based knowledge source with live API connections to official state admission portals or institutional ERP databases, ensuring real-time retrieval of dynamic branch cutoffs, merit ranks, and seat vacancies.</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OCR-Driven Document Verification</a:t>
            </a:r>
            <a:r>
              <a:rPr lang="en-US" sz="1850" dirty="0">
                <a:solidFill>
                  <a:srgbClr val="2B3541"/>
                </a:solidFill>
                <a:latin typeface="Times New Roman"/>
                <a:ea typeface="Times New Roman"/>
                <a:cs typeface="Times New Roman"/>
                <a:sym typeface="Times New Roman"/>
              </a:rPr>
              <a:t>: Integrate Optical Character Recognition (OCR) components into the intake stream, allowing applicants to upload certificates or transcripts that the AI can instantly analyze, cross-reference, and audit against the 12 mandatory admission checklists.</a:t>
            </a:r>
            <a:endParaRPr sz="185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1230</TotalTime>
  <Words>1564</Words>
  <Application>Microsoft Office PowerPoint</Application>
  <PresentationFormat>Widescreen</PresentationFormat>
  <Paragraphs>122</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Unicode MS</vt:lpstr>
      <vt:lpstr>Calibri</vt:lpstr>
      <vt:lpstr>Google Sans</vt:lpstr>
      <vt:lpstr>Google Sans Text</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Token usage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Amit Kumar</cp:lastModifiedBy>
  <cp:revision>28</cp:revision>
  <dcterms:created xsi:type="dcterms:W3CDTF">2025-07-08T05:06:56Z</dcterms:created>
  <dcterms:modified xsi:type="dcterms:W3CDTF">2026-06-08T13:34:23Z</dcterms:modified>
</cp:coreProperties>
</file>